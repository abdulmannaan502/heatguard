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Outfit"/>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E3506C-C630-4F23-BFAD-7BF93A33CF9E}">
  <a:tblStyle styleId="{C0E3506C-C630-4F23-BFAD-7BF93A33CF9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font" Target="fonts/Outfit-regular.fntdata"/><Relationship Id="rId23" Type="http://schemas.openxmlformats.org/officeDocument/2006/relationships/font" Target="fonts/Outfi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1e689c29696e6c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1e689c29696e6c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1e689c29696e6c2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1e689c29696e6c2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1e689c29696e6c26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1e689c29696e6c26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1e689c29696e6c26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1e689c29696e6c26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1e689c29696e6c26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1e689c29696e6c26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1e689c29696e6c26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1e689c29696e6c26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e689c29696e6c26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1e689c29696e6c26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1e689c29696e6c26_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1e689c29696e6c26_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1e689c29696e6c26_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1e689c29696e6c26_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1e689c29696e6c26_8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1e689c29696e6c26_8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1e689c29696e6c26_8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1e689c29696e6c26_8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1e689c29696e6c26_8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1e689c29696e6c26_8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1e689c29696e6c26_8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h1e689c29696e6c26_8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1e689c29696e6c2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1e689c29696e6c2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HDIC S1.png"/>
          <p:cNvPicPr preferRelativeResize="0"/>
          <p:nvPr/>
        </p:nvPicPr>
        <p:blipFill rotWithShape="1">
          <a:blip r:embed="rId3">
            <a:alphaModFix/>
          </a:blip>
          <a:srcRect b="44237" l="0" r="0" t="0"/>
          <a:stretch/>
        </p:blipFill>
        <p:spPr>
          <a:xfrm>
            <a:off x="0" y="0"/>
            <a:ext cx="9144000" cy="2868099"/>
          </a:xfrm>
          <a:prstGeom prst="rect">
            <a:avLst/>
          </a:prstGeom>
          <a:noFill/>
          <a:ln>
            <a:noFill/>
          </a:ln>
        </p:spPr>
      </p:pic>
      <p:pic>
        <p:nvPicPr>
          <p:cNvPr id="55" name="Google Shape;55;p13" title="FHDIC S1.png"/>
          <p:cNvPicPr preferRelativeResize="0"/>
          <p:nvPr/>
        </p:nvPicPr>
        <p:blipFill rotWithShape="1">
          <a:blip r:embed="rId4">
            <a:alphaModFix/>
          </a:blip>
          <a:srcRect b="44237" l="0" r="0" t="54499"/>
          <a:stretch/>
        </p:blipFill>
        <p:spPr>
          <a:xfrm>
            <a:off x="0" y="5078474"/>
            <a:ext cx="9144000" cy="65024"/>
          </a:xfrm>
          <a:prstGeom prst="rect">
            <a:avLst/>
          </a:prstGeom>
          <a:noFill/>
          <a:ln>
            <a:noFill/>
          </a:ln>
        </p:spPr>
      </p:pic>
      <p:sp>
        <p:nvSpPr>
          <p:cNvPr id="56" name="Google Shape;56;p13"/>
          <p:cNvSpPr txBox="1"/>
          <p:nvPr/>
        </p:nvSpPr>
        <p:spPr>
          <a:xfrm>
            <a:off x="441600" y="3050550"/>
            <a:ext cx="8323200" cy="19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chemeClr val="dk2"/>
                </a:solidFill>
                <a:latin typeface="Outfit"/>
                <a:ea typeface="Outfit"/>
                <a:cs typeface="Outfit"/>
                <a:sym typeface="Outfit"/>
              </a:rPr>
              <a:t>Team Name: </a:t>
            </a:r>
            <a:r>
              <a:rPr lang="en-GB" sz="1400" b="1">
                <a:solidFill>
                  <a:schemeClr val="dk2"/>
                </a:solidFill>
                <a:latin typeface="Outfit"/>
                <a:ea typeface="Outfit"/>
                <a:cs typeface="Outfit"/>
                <a:sym typeface="Outfit"/>
              </a:rPr>
              <a:t>HeatGuard (solo entry, Abdul Mannaan Sayyad, Triad AI)</a:t>
            </a:r>
            <a:endParaRPr sz="1800">
              <a:solidFill>
                <a:schemeClr val="dk2"/>
              </a:solidFill>
              <a:latin typeface="Outfit"/>
              <a:ea typeface="Outfit"/>
              <a:cs typeface="Outfit"/>
              <a:sym typeface="Outfit"/>
            </a:endParaRPr>
          </a:p>
          <a:p>
            <a:pPr indent="0" lvl="0" marL="0" rtl="0" algn="l">
              <a:spcBef>
                <a:spcPts val="0"/>
              </a:spcBef>
              <a:spcAft>
                <a:spcPts val="0"/>
              </a:spcAft>
              <a:buNone/>
            </a:pPr>
            <a:r>
              <a:rPr lang="en-GB" sz="1400">
                <a:solidFill>
                  <a:schemeClr val="dk2"/>
                </a:solidFill>
                <a:latin typeface="Outfit"/>
                <a:ea typeface="Outfit"/>
                <a:cs typeface="Outfit"/>
                <a:sym typeface="Outfit"/>
              </a:rPr>
              <a:t>Team Size: </a:t>
            </a:r>
            <a:r>
              <a:rPr lang="en-GB" sz="1400" b="1">
                <a:solidFill>
                  <a:schemeClr val="dk2"/>
                </a:solidFill>
                <a:latin typeface="Outfit"/>
                <a:ea typeface="Outfit"/>
                <a:cs typeface="Outfit"/>
                <a:sym typeface="Outfit"/>
              </a:rPr>
              <a:t>1</a:t>
            </a:r>
            <a:endParaRPr sz="1800">
              <a:solidFill>
                <a:schemeClr val="dk2"/>
              </a:solidFill>
              <a:latin typeface="Outfit"/>
              <a:ea typeface="Outfit"/>
              <a:cs typeface="Outfit"/>
              <a:sym typeface="Outfit"/>
            </a:endParaRPr>
          </a:p>
          <a:p>
            <a:pPr indent="0" lvl="0" marL="0" rtl="0" algn="l">
              <a:spcBef>
                <a:spcPts val="0"/>
              </a:spcBef>
              <a:spcAft>
                <a:spcPts val="0"/>
              </a:spcAft>
              <a:buNone/>
            </a:pPr>
            <a:r>
              <a:rPr lang="en-GB" sz="1100">
                <a:solidFill>
                  <a:schemeClr val="dk2"/>
                </a:solidFill>
                <a:latin typeface="Outfit"/>
                <a:ea typeface="Outfit"/>
                <a:cs typeface="Outfit"/>
                <a:sym typeface="Outfit"/>
              </a:rPr>
              <a:t>Problem Statement: </a:t>
            </a:r>
            <a:r>
              <a:rPr lang="en-GB" sz="1100" b="0">
                <a:solidFill>
                  <a:schemeClr val="dk2"/>
                </a:solidFill>
                <a:latin typeface="Outfit"/>
                <a:ea typeface="Outfit"/>
                <a:cs typeface="Outfit"/>
                <a:sym typeface="Outfit"/>
              </a:rPr>
              <a:t>[Population Health] Climate-Resilient Worker Health. Outdoor workers collapse from heat because weather alerts and fixed midday breaks treat everyone the same, while real risk is individual. HeatGuard estimates each worker's core temperature from a wearable and the weather, forecasts it 30 minutes ahead, and sends a tiered alert in the worker's own language.</a:t>
            </a:r>
            <a:endParaRPr sz="1800">
              <a:solidFill>
                <a:schemeClr val="dk2"/>
              </a:solidFill>
              <a:latin typeface="Outfit"/>
              <a:ea typeface="Outfit"/>
              <a:cs typeface="Outfit"/>
              <a:sym typeface="Outfi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HDIC S2.png"/>
          <p:cNvPicPr preferRelativeResize="0"/>
          <p:nvPr/>
        </p:nvPicPr>
        <p:blipFill rotWithShape="1">
          <a:blip r:embed="rId3">
            <a:alphaModFix/>
          </a:blip>
          <a:srcRect b="87076" l="0" r="0" t="0"/>
          <a:stretch/>
        </p:blipFill>
        <p:spPr>
          <a:xfrm>
            <a:off x="0" y="0"/>
            <a:ext cx="9144000" cy="664751"/>
          </a:xfrm>
          <a:prstGeom prst="rect">
            <a:avLst/>
          </a:prstGeom>
          <a:noFill/>
          <a:ln>
            <a:noFill/>
          </a:ln>
        </p:spPr>
      </p:pic>
      <p:pic>
        <p:nvPicPr>
          <p:cNvPr id="62" name="Google Shape;62;p14" title="FHDIC S2.png"/>
          <p:cNvPicPr preferRelativeResize="0"/>
          <p:nvPr/>
        </p:nvPicPr>
        <p:blipFill rotWithShape="1">
          <a:blip r:embed="rId4">
            <a:alphaModFix/>
          </a:blip>
          <a:srcRect b="-743" l="0" r="0" t="98599"/>
          <a:stretch/>
        </p:blipFill>
        <p:spPr>
          <a:xfrm>
            <a:off x="0" y="5071451"/>
            <a:ext cx="9144000" cy="110300"/>
          </a:xfrm>
          <a:prstGeom prst="rect">
            <a:avLst/>
          </a:prstGeom>
          <a:noFill/>
          <a:ln>
            <a:noFill/>
          </a:ln>
        </p:spPr>
      </p:pic>
      <p:sp>
        <p:nvSpPr>
          <p:cNvPr id="63" name="Google Shape;63;p14"/>
          <p:cNvSpPr txBox="1"/>
          <p:nvPr/>
        </p:nvSpPr>
        <p:spPr>
          <a:xfrm>
            <a:off x="259175" y="861225"/>
            <a:ext cx="69816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Team members*</a:t>
            </a:r>
            <a:endParaRPr sz="1200">
              <a:solidFill>
                <a:schemeClr val="dk2"/>
              </a:solidFill>
              <a:latin typeface="Outfit"/>
              <a:ea typeface="Outfit"/>
              <a:cs typeface="Outfit"/>
              <a:sym typeface="Outfit"/>
            </a:endParaRPr>
          </a:p>
          <a:p>
            <a:pPr indent="0" lvl="0" marL="0" rtl="0" algn="l">
              <a:spcBef>
                <a:spcPts val="0"/>
              </a:spcBef>
              <a:spcAft>
                <a:spcPts val="0"/>
              </a:spcAft>
              <a:buNone/>
            </a:pPr>
            <a:r>
              <a:rPr lang="en-GB" sz="1200">
                <a:solidFill>
                  <a:schemeClr val="dk2"/>
                </a:solidFill>
                <a:latin typeface="Outfit"/>
                <a:ea typeface="Outfit"/>
                <a:cs typeface="Outfit"/>
                <a:sym typeface="Outfit"/>
              </a:rPr>
              <a:t>[Name, country, role, organization, age confirmation]</a:t>
            </a:r>
            <a:endParaRPr sz="1200">
              <a:solidFill>
                <a:schemeClr val="dk2"/>
              </a:solidFill>
              <a:latin typeface="Outfit"/>
              <a:ea typeface="Outfit"/>
              <a:cs typeface="Outfit"/>
              <a:sym typeface="Outfit"/>
            </a:endParaRPr>
          </a:p>
        </p:txBody>
      </p:sp>
      <p:graphicFrame>
        <p:nvGraphicFramePr>
          <p:cNvPr id="64" name="Google Shape;64;p14"/>
          <p:cNvGraphicFramePr/>
          <p:nvPr/>
        </p:nvGraphicFramePr>
        <p:xfrm>
          <a:off x="365025" y="1577025"/>
          <a:ext cx="3000000" cy="3000000"/>
        </p:xfrm>
        <a:graphic>
          <a:graphicData uri="http://schemas.openxmlformats.org/drawingml/2006/table">
            <a:tbl>
              <a:tblPr>
                <a:noFill/>
                <a:tableStyleId>{C0E3506C-C630-4F23-BFAD-7BF93A33CF9E}</a:tableStyleId>
              </a:tblPr>
              <a:tblGrid>
                <a:gridCol w="600875"/>
                <a:gridCol w="2167425"/>
                <a:gridCol w="1441200"/>
                <a:gridCol w="1441200"/>
                <a:gridCol w="1441200"/>
                <a:gridCol w="1441200"/>
              </a:tblGrid>
              <a:tr h="381000">
                <a:tc>
                  <a:txBody>
                    <a:bodyPr/>
                    <a:lstStyle/>
                    <a:p>
                      <a:pPr indent="0" lvl="0" marL="0" rtl="0" algn="l">
                        <a:spcBef>
                          <a:spcPts val="0"/>
                        </a:spcBef>
                        <a:spcAft>
                          <a:spcPts val="0"/>
                        </a:spcAft>
                        <a:buNone/>
                      </a:pPr>
                      <a:r>
                        <a:rPr lang="en-GB" sz="1200"/>
                        <a:t>S.No</a:t>
                      </a:r>
                      <a:endParaRPr sz="1200"/>
                    </a:p>
                  </a:txBody>
                  <a:tcPr marT="91425" marB="91425" marR="91425" marL="91425"/>
                </a:tc>
                <a:tc>
                  <a:txBody>
                    <a:bodyPr/>
                    <a:lstStyle/>
                    <a:p>
                      <a:pPr indent="0" lvl="0" marL="0" rtl="0" algn="l">
                        <a:spcBef>
                          <a:spcPts val="0"/>
                        </a:spcBef>
                        <a:spcAft>
                          <a:spcPts val="0"/>
                        </a:spcAft>
                        <a:buNone/>
                      </a:pPr>
                      <a:r>
                        <a:rPr lang="en-GB" sz="1200"/>
                        <a:t>Name</a:t>
                      </a:r>
                      <a:endParaRPr sz="1200"/>
                    </a:p>
                  </a:txBody>
                  <a:tcPr marT="91425" marB="91425" marR="91425" marL="91425"/>
                </a:tc>
                <a:tc>
                  <a:txBody>
                    <a:bodyPr/>
                    <a:lstStyle/>
                    <a:p>
                      <a:pPr indent="0" lvl="0" marL="0" rtl="0" algn="l">
                        <a:spcBef>
                          <a:spcPts val="0"/>
                        </a:spcBef>
                        <a:spcAft>
                          <a:spcPts val="0"/>
                        </a:spcAft>
                        <a:buNone/>
                      </a:pPr>
                      <a:r>
                        <a:rPr lang="en-GB" sz="1200"/>
                        <a:t>C</a:t>
                      </a:r>
                      <a:r>
                        <a:rPr lang="en-GB" sz="1200"/>
                        <a:t>ountry</a:t>
                      </a:r>
                      <a:endParaRPr sz="1200"/>
                    </a:p>
                  </a:txBody>
                  <a:tcPr marT="91425" marB="91425" marR="91425" marL="91425"/>
                </a:tc>
                <a:tc>
                  <a:txBody>
                    <a:bodyPr/>
                    <a:lstStyle/>
                    <a:p>
                      <a:pPr indent="0" lvl="0" marL="0" rtl="0" algn="l">
                        <a:spcBef>
                          <a:spcPts val="0"/>
                        </a:spcBef>
                        <a:spcAft>
                          <a:spcPts val="0"/>
                        </a:spcAft>
                        <a:buNone/>
                      </a:pPr>
                      <a:r>
                        <a:rPr lang="en-GB" sz="1200"/>
                        <a:t>R</a:t>
                      </a:r>
                      <a:r>
                        <a:rPr lang="en-GB" sz="1200"/>
                        <a:t>ole</a:t>
                      </a:r>
                      <a:endParaRPr sz="1200"/>
                    </a:p>
                  </a:txBody>
                  <a:tcPr marT="91425" marB="91425" marR="91425" marL="91425"/>
                </a:tc>
                <a:tc>
                  <a:txBody>
                    <a:bodyPr/>
                    <a:lstStyle/>
                    <a:p>
                      <a:pPr indent="0" lvl="0" marL="0" rtl="0" algn="l">
                        <a:spcBef>
                          <a:spcPts val="0"/>
                        </a:spcBef>
                        <a:spcAft>
                          <a:spcPts val="0"/>
                        </a:spcAft>
                        <a:buNone/>
                      </a:pPr>
                      <a:r>
                        <a:rPr lang="en-GB" sz="1200"/>
                        <a:t>O</a:t>
                      </a:r>
                      <a:r>
                        <a:rPr lang="en-GB" sz="1200"/>
                        <a:t>rganization</a:t>
                      </a:r>
                      <a:endParaRPr sz="1200"/>
                    </a:p>
                  </a:txBody>
                  <a:tcPr marT="91425" marB="91425" marR="91425" marL="91425"/>
                </a:tc>
                <a:tc>
                  <a:txBody>
                    <a:bodyPr/>
                    <a:lstStyle/>
                    <a:p>
                      <a:pPr indent="0" lvl="0" marL="0" rtl="0" algn="l">
                        <a:spcBef>
                          <a:spcPts val="0"/>
                        </a:spcBef>
                        <a:spcAft>
                          <a:spcPts val="0"/>
                        </a:spcAft>
                        <a:buNone/>
                      </a:pPr>
                      <a:r>
                        <a:rPr lang="en-GB" sz="1200"/>
                        <a:t>A</a:t>
                      </a:r>
                      <a:r>
                        <a:rPr lang="en-GB" sz="1200"/>
                        <a:t>ge confirmation</a:t>
                      </a:r>
                      <a:endParaRPr sz="1200"/>
                    </a:p>
                  </a:txBody>
                  <a:tcPr marT="91425" marB="91425" marR="91425" marL="91425"/>
                </a:tc>
              </a:tr>
              <a:tr h="381000">
                <a:tc>
                  <a:txBody>
                    <a:bodyPr/>
                    <a:lstStyle/>
                    <a:p>
                      <a:pPr indent="0" lvl="0" marL="0" rtl="0" algn="l">
                        <a:spcBef>
                          <a:spcPts val="0"/>
                        </a:spcBef>
                        <a:spcAft>
                          <a:spcPts val="0"/>
                        </a:spcAft>
                        <a:buNone/>
                      </a:pPr>
                      <a:r>
                        <a:rPr sz="900">
                          <a:latin typeface="Outfit"/>
                        </a:rPr>
                        <a:t>1</a:t>
                      </a:r>
                      <a:endParaRPr sz="1200"/>
                    </a:p>
                  </a:txBody>
                  <a:tcPr marT="91425" marB="91425" marR="91425" marL="91425"/>
                </a:tc>
                <a:tc>
                  <a:txBody>
                    <a:bodyPr/>
                    <a:lstStyle/>
                    <a:p>
                      <a:pPr indent="0" lvl="0" marL="0" rtl="0" algn="l">
                        <a:spcBef>
                          <a:spcPts val="0"/>
                        </a:spcBef>
                        <a:spcAft>
                          <a:spcPts val="0"/>
                        </a:spcAft>
                        <a:buNone/>
                      </a:pPr>
                      <a:r>
                        <a:rPr sz="900">
                          <a:latin typeface="Outfit"/>
                        </a:rPr>
                        <a:t>Abdul Mannaan Sayyad</a:t>
                      </a:r>
                      <a:endParaRPr sz="1200"/>
                    </a:p>
                  </a:txBody>
                  <a:tcPr marT="91425" marB="91425" marR="91425" marL="91425"/>
                </a:tc>
                <a:tc>
                  <a:txBody>
                    <a:bodyPr/>
                    <a:lstStyle/>
                    <a:p>
                      <a:pPr indent="0" lvl="0" marL="0" rtl="0" algn="l">
                        <a:spcBef>
                          <a:spcPts val="0"/>
                        </a:spcBef>
                        <a:spcAft>
                          <a:spcPts val="0"/>
                        </a:spcAft>
                        <a:buNone/>
                      </a:pPr>
                      <a:r>
                        <a:rPr sz="900">
                          <a:latin typeface="Outfit"/>
                        </a:rPr>
                        <a:t>India</a:t>
                      </a:r>
                      <a:endParaRPr sz="1200"/>
                    </a:p>
                  </a:txBody>
                  <a:tcPr marT="91425" marB="91425" marR="91425" marL="91425"/>
                </a:tc>
                <a:tc>
                  <a:txBody>
                    <a:bodyPr/>
                    <a:lstStyle/>
                    <a:p>
                      <a:pPr indent="0" lvl="0" marL="0" rtl="0" algn="l">
                        <a:spcBef>
                          <a:spcPts val="0"/>
                        </a:spcBef>
                        <a:spcAft>
                          <a:spcPts val="0"/>
                        </a:spcAft>
                        <a:buNone/>
                      </a:pPr>
                      <a:r>
                        <a:rPr sz="900">
                          <a:latin typeface="Outfit"/>
                        </a:rPr>
                        <a:t>AI Engineer (team lead, sole member)</a:t>
                      </a:r>
                      <a:endParaRPr sz="1200"/>
                    </a:p>
                  </a:txBody>
                  <a:tcPr marT="91425" marB="91425" marR="91425" marL="91425"/>
                </a:tc>
                <a:tc>
                  <a:txBody>
                    <a:bodyPr/>
                    <a:lstStyle/>
                    <a:p>
                      <a:pPr indent="0" lvl="0" marL="0" rtl="0" algn="l">
                        <a:spcBef>
                          <a:spcPts val="0"/>
                        </a:spcBef>
                        <a:spcAft>
                          <a:spcPts val="0"/>
                        </a:spcAft>
                        <a:buNone/>
                      </a:pPr>
                      <a:r>
                        <a:rPr sz="900">
                          <a:latin typeface="Outfit"/>
                        </a:rPr>
                        <a:t>Triad AI</a:t>
                      </a:r>
                      <a:endParaRPr sz="1200"/>
                    </a:p>
                  </a:txBody>
                  <a:tcPr marT="91425" marB="91425" marR="91425" marL="91425"/>
                </a:tc>
                <a:tc>
                  <a:txBody>
                    <a:bodyPr/>
                    <a:lstStyle/>
                    <a:p>
                      <a:pPr indent="0" lvl="0" marL="0" rtl="0" algn="l">
                        <a:spcBef>
                          <a:spcPts val="0"/>
                        </a:spcBef>
                        <a:spcAft>
                          <a:spcPts val="0"/>
                        </a:spcAft>
                        <a:buNone/>
                      </a:pPr>
                      <a:r>
                        <a:rPr sz="900">
                          <a:latin typeface="Outfit"/>
                        </a:rPr>
                        <a:t>Confirmed: age 21, over 18</a:t>
                      </a:r>
                      <a:endParaRPr sz="1200"/>
                    </a:p>
                  </a:txBody>
                  <a:tcPr marT="91425" marB="91425" marR="91425" marL="91425"/>
                </a:tc>
              </a:tr>
              <a:tr h="381000">
                <a:tc>
                  <a:txBody>
                    <a:bodyPr/>
                    <a:lstStyle/>
                    <a:p>
                      <a:pPr indent="0" lvl="0" marL="0" rtl="0" algn="l">
                        <a:spcBef>
                          <a:spcPts val="0"/>
                        </a:spcBef>
                        <a:spcAft>
                          <a:spcPts val="0"/>
                        </a:spcAft>
                        <a:buNone/>
                      </a:pPr>
                      <a:r>
                        <a:rPr lang="en-GB" sz="1200"/>
                        <a:t>2</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r>
              <a:tr h="381000">
                <a:tc>
                  <a:txBody>
                    <a:bodyPr/>
                    <a:lstStyle/>
                    <a:p>
                      <a:pPr indent="0" lvl="0" marL="0" rtl="0" algn="l">
                        <a:spcBef>
                          <a:spcPts val="0"/>
                        </a:spcBef>
                        <a:spcAft>
                          <a:spcPts val="0"/>
                        </a:spcAft>
                        <a:buNone/>
                      </a:pPr>
                      <a:r>
                        <a:rPr lang="en-GB" sz="1200"/>
                        <a:t>3</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r>
              <a:tr h="381000">
                <a:tc>
                  <a:txBody>
                    <a:bodyPr/>
                    <a:lstStyle/>
                    <a:p>
                      <a:pPr indent="0" lvl="0" marL="0" rtl="0" algn="l">
                        <a:spcBef>
                          <a:spcPts val="0"/>
                        </a:spcBef>
                        <a:spcAft>
                          <a:spcPts val="0"/>
                        </a:spcAft>
                        <a:buNone/>
                      </a:pPr>
                      <a:r>
                        <a:rPr lang="en-GB" sz="1200"/>
                        <a:t>4</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r>
              <a:tr h="381000">
                <a:tc>
                  <a:txBody>
                    <a:bodyPr/>
                    <a:lstStyle/>
                    <a:p>
                      <a:pPr indent="0" lvl="0" marL="0" rtl="0" algn="l">
                        <a:spcBef>
                          <a:spcPts val="0"/>
                        </a:spcBef>
                        <a:spcAft>
                          <a:spcPts val="0"/>
                        </a:spcAft>
                        <a:buNone/>
                      </a:pPr>
                      <a:r>
                        <a:rPr lang="en-GB" sz="1200"/>
                        <a:t>5</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r>
            </a:tbl>
          </a:graphicData>
        </a:graphic>
      </p:graphicFrame>
      <p:sp>
        <p:nvSpPr>
          <p:cNvPr id="65" name="TextBox 64"/>
          <p:cNvSpPr txBox="1"/>
          <p:nvPr/>
        </p:nvSpPr>
        <p:spPr>
          <a:xfrm>
            <a:off x="365760" y="4251960"/>
            <a:ext cx="8412480" cy="731520"/>
          </a:xfrm>
          <a:prstGeom prst="rect">
            <a:avLst/>
          </a:prstGeom>
          <a:noFill/>
        </p:spPr>
        <p:txBody>
          <a:bodyPr wrap="square" anchor="t" lIns="36576" rIns="36576" tIns="18288" bIns="18288">
            <a:spAutoFit/>
          </a:bodyPr>
          <a:lstStyle/>
          <a:p>
            <a:pPr marL="0" indent="0" algn="l">
              <a:spcBef>
                <a:spcPts val="300"/>
              </a:spcBef>
              <a:buNone/>
            </a:pPr>
            <a:r>
              <a:rPr sz="900" b="1">
                <a:solidFill>
                  <a:srgbClr val="7A6656"/>
                </a:solidFill>
                <a:latin typeface="Outfit"/>
              </a:rPr>
              <a:t>Solo entry. </a:t>
            </a:r>
            <a:r>
              <a:rPr sz="900" b="0">
                <a:solidFill>
                  <a:srgbClr val="3B312B"/>
                </a:solidFill>
                <a:latin typeface="Outfit"/>
              </a:rPr>
              <a:t>One person designed, built, validated and documented the whole solution. No other member is listed, so rows 2 to 5 are intentionally left empty.</a:t>
            </a:r>
          </a:p>
          <a:p>
            <a:pPr marL="0" indent="0" algn="l">
              <a:spcBef>
                <a:spcPts val="300"/>
              </a:spcBef>
              <a:buNone/>
            </a:pPr>
            <a:r>
              <a:rPr sz="900" b="1">
                <a:solidFill>
                  <a:srgbClr val="7A6656"/>
                </a:solidFill>
                <a:latin typeface="Outfit"/>
              </a:rPr>
              <a:t>Eligibility. </a:t>
            </a:r>
            <a:r>
              <a:rPr sz="900" b="0">
                <a:solidFill>
                  <a:srgbClr val="3B312B"/>
                </a:solidFill>
                <a:latin typeface="Outfit"/>
              </a:rPr>
              <a:t>The team lead is 18 or older. Permission from the employer or institution (Triad AI) is the participant's responsibility under the challenge rules and is being confirmed by the applicant.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70" name="Google Shape;70;p15"/>
          <p:cNvSpPr txBox="1"/>
          <p:nvPr/>
        </p:nvSpPr>
        <p:spPr>
          <a:xfrm>
            <a:off x="259175" y="861225"/>
            <a:ext cx="87099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Team Capability Summary*</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Maximum 1,000 characters</a:t>
            </a:r>
            <a:endParaRPr i="1" sz="1000">
              <a:solidFill>
                <a:schemeClr val="dk2"/>
              </a:solidFill>
              <a:latin typeface="Outfit"/>
              <a:ea typeface="Outfit"/>
              <a:cs typeface="Outfit"/>
              <a:sym typeface="Outfit"/>
            </a:endParaRPr>
          </a:p>
        </p:txBody>
      </p:sp>
      <p:pic>
        <p:nvPicPr>
          <p:cNvPr id="71" name="Google Shape;71;p15"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72" name="TextBox 71"/>
          <p:cNvSpPr txBox="1"/>
          <p:nvPr/>
        </p:nvSpPr>
        <p:spPr>
          <a:xfrm>
            <a:off x="320040" y="1371600"/>
            <a:ext cx="8503920" cy="2194560"/>
          </a:xfrm>
          <a:prstGeom prst="rect">
            <a:avLst/>
          </a:prstGeom>
          <a:noFill/>
        </p:spPr>
        <p:txBody>
          <a:bodyPr wrap="square" anchor="t" lIns="36576" rIns="36576" tIns="18288" bIns="18288">
            <a:spAutoFit/>
          </a:bodyPr>
          <a:lstStyle/>
          <a:p>
            <a:pPr marL="0" indent="0" algn="l">
              <a:spcBef>
                <a:spcPts val="0"/>
              </a:spcBef>
              <a:buNone/>
            </a:pPr>
            <a:r>
              <a:rPr sz="1150" b="0">
                <a:solidFill>
                  <a:srgbClr val="3B312B"/>
                </a:solidFill>
                <a:latin typeface="Outfit"/>
              </a:rPr>
              <a:t>Solo AI engineer (21) at Triad AI, India. For this challenge I built the full HeatGuard stack myself: a physics-based worker and weather simulator, an extended Kalman filter that estimates core temperature from wearable heart rate, a 30-minute forecaster, work-rest policies, a closed-loop evaluation on 6,000 synthetic worker-shifts, a multilingual alert layer, a privacy-by-design API with tests, and a live site console. Skills used: machine learning and state estimation, signal processing, Python and FastAPI, data visualisation, responsible-AI design. Gaps I am addressing: no clinician or occupational-health physician on the team yet, no human data yet, and translations are machine-drafted. Next step is to recruit an occupational-health advisor and a construction partner for a calibration study and pilot.</a:t>
            </a:r>
          </a:p>
        </p:txBody>
      </p:sp>
      <p:sp>
        <p:nvSpPr>
          <p:cNvPr id="73" name="TextBox 72"/>
          <p:cNvSpPr txBox="1"/>
          <p:nvPr/>
        </p:nvSpPr>
        <p:spPr>
          <a:xfrm>
            <a:off x="320040" y="3794760"/>
            <a:ext cx="8503920" cy="822960"/>
          </a:xfrm>
          <a:prstGeom prst="rect">
            <a:avLst/>
          </a:prstGeom>
          <a:noFill/>
        </p:spPr>
        <p:txBody>
          <a:bodyPr wrap="square" anchor="t" lIns="36576" rIns="36576" tIns="18288" bIns="18288">
            <a:spAutoFit/>
          </a:bodyPr>
          <a:lstStyle/>
          <a:p>
            <a:pPr marL="0" indent="0" algn="l">
              <a:spcBef>
                <a:spcPts val="300"/>
              </a:spcBef>
              <a:buNone/>
            </a:pPr>
            <a:r>
              <a:rPr sz="1000" b="1">
                <a:solidFill>
                  <a:srgbClr val="7A6656"/>
                </a:solidFill>
                <a:latin typeface="Outfit"/>
              </a:rPr>
              <a:t>Built and tested in this challenge: </a:t>
            </a:r>
            <a:r>
              <a:rPr sz="1000" b="0">
                <a:solidFill>
                  <a:srgbClr val="3B312B"/>
                </a:solidFill>
                <a:latin typeface="Outfit"/>
              </a:rPr>
              <a:t>Python package with 7 automated tests, FastAPI service, replay console, 3-minute demo video. All results in this deck are reproducible from the code.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77" name="Google Shape;77;p16"/>
          <p:cNvSpPr txBox="1"/>
          <p:nvPr/>
        </p:nvSpPr>
        <p:spPr>
          <a:xfrm>
            <a:off x="259175" y="861225"/>
            <a:ext cx="81819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Architecture or workflow diagram*</a:t>
            </a:r>
            <a:endParaRPr sz="1200">
              <a:solidFill>
                <a:schemeClr val="dk2"/>
              </a:solidFill>
              <a:latin typeface="Outfit"/>
              <a:ea typeface="Outfit"/>
              <a:cs typeface="Outfit"/>
              <a:sym typeface="Outfit"/>
            </a:endParaRPr>
          </a:p>
        </p:txBody>
      </p:sp>
      <p:pic>
        <p:nvPicPr>
          <p:cNvPr id="78" name="Google Shape;78;p16"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79" name="Rounded Rectangle 78"/>
          <p:cNvSpPr/>
          <p:nvPr/>
        </p:nvSpPr>
        <p:spPr>
          <a:xfrm>
            <a:off x="274320" y="1417320"/>
            <a:ext cx="1874519" cy="45720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0">
                <a:solidFill>
                  <a:srgbClr val="3B312B"/>
                </a:solidFill>
                <a:latin typeface="Outfit"/>
              </a:rPr>
              <a:t>Wearable heart rate</a:t>
            </a:r>
          </a:p>
          <a:p>
            <a:pPr algn="ctr" marL="0" indent="0">
              <a:spcBef>
                <a:spcPts val="0"/>
              </a:spcBef>
              <a:buNone/>
            </a:pPr>
            <a:r>
              <a:rPr sz="850" b="0">
                <a:solidFill>
                  <a:srgbClr val="3B312B"/>
                </a:solidFill>
                <a:latin typeface="Outfit"/>
              </a:rPr>
              <a:t>any wrist band or chest strap</a:t>
            </a:r>
          </a:p>
        </p:txBody>
      </p:sp>
      <p:sp>
        <p:nvSpPr>
          <p:cNvPr id="80" name="Rounded Rectangle 79"/>
          <p:cNvSpPr/>
          <p:nvPr/>
        </p:nvSpPr>
        <p:spPr>
          <a:xfrm>
            <a:off x="274320" y="1984248"/>
            <a:ext cx="1874519" cy="45720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0">
                <a:solidFill>
                  <a:srgbClr val="3B312B"/>
                </a:solidFill>
                <a:latin typeface="Outfit"/>
              </a:rPr>
              <a:t>Site weather</a:t>
            </a:r>
          </a:p>
          <a:p>
            <a:pPr algn="ctr" marL="0" indent="0">
              <a:spcBef>
                <a:spcPts val="0"/>
              </a:spcBef>
              <a:buNone/>
            </a:pPr>
            <a:r>
              <a:rPr sz="850" b="0">
                <a:solidFill>
                  <a:srgbClr val="3B312B"/>
                </a:solidFill>
                <a:latin typeface="Outfit"/>
              </a:rPr>
              <a:t>air temp, humidity, sun, wind</a:t>
            </a:r>
          </a:p>
        </p:txBody>
      </p:sp>
      <p:sp>
        <p:nvSpPr>
          <p:cNvPr id="81" name="Rounded Rectangle 80"/>
          <p:cNvSpPr/>
          <p:nvPr/>
        </p:nvSpPr>
        <p:spPr>
          <a:xfrm>
            <a:off x="274320" y="2551176"/>
            <a:ext cx="1874519" cy="45720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0">
                <a:solidFill>
                  <a:srgbClr val="3B312B"/>
                </a:solidFill>
                <a:latin typeface="Outfit"/>
              </a:rPr>
              <a:t>Task class</a:t>
            </a:r>
          </a:p>
          <a:p>
            <a:pPr algn="ctr" marL="0" indent="0">
              <a:spcBef>
                <a:spcPts val="0"/>
              </a:spcBef>
              <a:buNone/>
            </a:pPr>
            <a:r>
              <a:rPr sz="850" b="0">
                <a:solidFill>
                  <a:srgbClr val="3B312B"/>
                </a:solidFill>
                <a:latin typeface="Outfit"/>
              </a:rPr>
              <a:t>light to very heavy</a:t>
            </a:r>
          </a:p>
        </p:txBody>
      </p:sp>
      <p:sp>
        <p:nvSpPr>
          <p:cNvPr id="82" name="Rounded Rectangle 81"/>
          <p:cNvSpPr/>
          <p:nvPr/>
        </p:nvSpPr>
        <p:spPr>
          <a:xfrm>
            <a:off x="274320" y="3118104"/>
            <a:ext cx="1874519" cy="45720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0">
                <a:solidFill>
                  <a:srgbClr val="3B312B"/>
                </a:solidFill>
                <a:latin typeface="Outfit"/>
              </a:rPr>
              <a:t>Days on the job</a:t>
            </a:r>
          </a:p>
          <a:p>
            <a:pPr algn="ctr" marL="0" indent="0">
              <a:spcBef>
                <a:spcPts val="0"/>
              </a:spcBef>
              <a:buNone/>
            </a:pPr>
            <a:r>
              <a:rPr sz="850" b="0">
                <a:solidFill>
                  <a:srgbClr val="3B312B"/>
                </a:solidFill>
                <a:latin typeface="Outfit"/>
              </a:rPr>
              <a:t>heat acclimatization</a:t>
            </a:r>
          </a:p>
        </p:txBody>
      </p:sp>
      <p:sp>
        <p:nvSpPr>
          <p:cNvPr id="83" name="TextBox 82"/>
          <p:cNvSpPr txBox="1"/>
          <p:nvPr/>
        </p:nvSpPr>
        <p:spPr>
          <a:xfrm>
            <a:off x="274320" y="1234440"/>
            <a:ext cx="1874519" cy="182880"/>
          </a:xfrm>
          <a:prstGeom prst="rect">
            <a:avLst/>
          </a:prstGeom>
          <a:noFill/>
        </p:spPr>
        <p:txBody>
          <a:bodyPr wrap="square" anchor="t" lIns="36576" rIns="36576" tIns="18288" bIns="18288">
            <a:spAutoFit/>
          </a:bodyPr>
          <a:lstStyle/>
          <a:p>
            <a:pPr marL="0" indent="0" algn="l">
              <a:spcBef>
                <a:spcPts val="300"/>
              </a:spcBef>
              <a:buNone/>
            </a:pPr>
            <a:r>
              <a:rPr sz="800" b="1">
                <a:solidFill>
                  <a:srgbClr val="7A6656"/>
                </a:solidFill>
                <a:latin typeface="Outfit"/>
              </a:rPr>
              <a:t>INPUTS (consented)</a:t>
            </a:r>
          </a:p>
        </p:txBody>
      </p:sp>
      <p:sp>
        <p:nvSpPr>
          <p:cNvPr id="84" name="Rounded Rectangle 83"/>
          <p:cNvSpPr/>
          <p:nvPr/>
        </p:nvSpPr>
        <p:spPr>
          <a:xfrm>
            <a:off x="2606040" y="1417320"/>
            <a:ext cx="2148840" cy="2157984"/>
          </a:xfrm>
          <a:prstGeom prst="roundRect">
            <a:avLst>
              <a:gd name="adj" fmla="val 12000"/>
            </a:avLst>
          </a:prstGeom>
          <a:solidFill>
            <a:srgbClr val="7A6656"/>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FFFFFF"/>
                </a:solidFill>
                <a:latin typeface="Outfit"/>
              </a:rPr>
              <a:t>HeatGuard engine</a:t>
            </a:r>
          </a:p>
          <a:p>
            <a:pPr algn="ctr" marL="0" indent="0">
              <a:spcBef>
                <a:spcPts val="0"/>
              </a:spcBef>
              <a:buNone/>
            </a:pPr>
            <a:r>
              <a:rPr sz="850" b="0">
                <a:solidFill>
                  <a:srgbClr val="FFFFFF"/>
                </a:solidFill>
                <a:latin typeface="Outfit"/>
              </a:rPr>
              <a:t/>
            </a:r>
          </a:p>
          <a:p>
            <a:pPr algn="ctr" marL="0" indent="0">
              <a:spcBef>
                <a:spcPts val="0"/>
              </a:spcBef>
              <a:buNone/>
            </a:pPr>
            <a:r>
              <a:rPr sz="850" b="0">
                <a:solidFill>
                  <a:srgbClr val="FFFFFF"/>
                </a:solidFill>
                <a:latin typeface="Outfit"/>
              </a:rPr>
              <a:t>Extended Kalman filter</a:t>
            </a:r>
          </a:p>
          <a:p>
            <a:pPr algn="ctr" marL="0" indent="0">
              <a:spcBef>
                <a:spcPts val="0"/>
              </a:spcBef>
              <a:buNone/>
            </a:pPr>
            <a:r>
              <a:rPr sz="850" b="0">
                <a:solidFill>
                  <a:srgbClr val="FFFFFF"/>
                </a:solidFill>
                <a:latin typeface="Outfit"/>
              </a:rPr>
              <a:t>core + skin temperature</a:t>
            </a:r>
          </a:p>
          <a:p>
            <a:pPr algn="ctr" marL="0" indent="0">
              <a:spcBef>
                <a:spcPts val="0"/>
              </a:spcBef>
              <a:buNone/>
            </a:pPr>
            <a:r>
              <a:rPr sz="850" b="0">
                <a:solidFill>
                  <a:srgbClr val="FFFFFF"/>
                </a:solidFill>
                <a:latin typeface="Outfit"/>
              </a:rPr>
              <a:t/>
            </a:r>
          </a:p>
          <a:p>
            <a:pPr algn="ctr" marL="0" indent="0">
              <a:spcBef>
                <a:spcPts val="0"/>
              </a:spcBef>
              <a:buNone/>
            </a:pPr>
            <a:r>
              <a:rPr sz="850" b="0">
                <a:solidFill>
                  <a:srgbClr val="FFFFFF"/>
                </a:solidFill>
                <a:latin typeface="Outfit"/>
              </a:rPr>
              <a:t>Heat-balance model:</a:t>
            </a:r>
          </a:p>
          <a:p>
            <a:pPr algn="ctr" marL="0" indent="0">
              <a:spcBef>
                <a:spcPts val="0"/>
              </a:spcBef>
              <a:buNone/>
            </a:pPr>
            <a:r>
              <a:rPr sz="850" b="0">
                <a:solidFill>
                  <a:srgbClr val="FFFFFF"/>
                </a:solidFill>
                <a:latin typeface="Outfit"/>
              </a:rPr>
              <a:t>metabolism, sweat, evaporation,</a:t>
            </a:r>
          </a:p>
          <a:p>
            <a:pPr algn="ctr" marL="0" indent="0">
              <a:spcBef>
                <a:spcPts val="0"/>
              </a:spcBef>
              <a:buNone/>
            </a:pPr>
            <a:r>
              <a:rPr sz="850" b="0">
                <a:solidFill>
                  <a:srgbClr val="FFFFFF"/>
                </a:solidFill>
                <a:latin typeface="Outfit"/>
              </a:rPr>
              <a:t>hydration, acclimatization</a:t>
            </a:r>
          </a:p>
          <a:p>
            <a:pPr algn="ctr" marL="0" indent="0">
              <a:spcBef>
                <a:spcPts val="0"/>
              </a:spcBef>
              <a:buNone/>
            </a:pPr>
            <a:r>
              <a:rPr sz="850" b="0">
                <a:solidFill>
                  <a:srgbClr val="FFFFFF"/>
                </a:solidFill>
                <a:latin typeface="Outfit"/>
              </a:rPr>
              <a:t/>
            </a:r>
          </a:p>
          <a:p>
            <a:pPr algn="ctr" marL="0" indent="0">
              <a:spcBef>
                <a:spcPts val="0"/>
              </a:spcBef>
              <a:buNone/>
            </a:pPr>
            <a:r>
              <a:rPr sz="850" b="0">
                <a:solidFill>
                  <a:srgbClr val="FFFFFF"/>
                </a:solidFill>
                <a:latin typeface="Outfit"/>
              </a:rPr>
              <a:t>Heart-rate correction</a:t>
            </a:r>
          </a:p>
          <a:p>
            <a:pPr algn="ctr" marL="0" indent="0">
              <a:spcBef>
                <a:spcPts val="0"/>
              </a:spcBef>
              <a:buNone/>
            </a:pPr>
            <a:r>
              <a:rPr sz="850" b="0">
                <a:solidFill>
                  <a:srgbClr val="FFFFFF"/>
                </a:solidFill>
                <a:latin typeface="Outfit"/>
              </a:rPr>
              <a:t>with outlier gating</a:t>
            </a:r>
          </a:p>
        </p:txBody>
      </p:sp>
      <p:cxnSp>
        <p:nvCxnSpPr>
          <p:cNvPr id="85" name="Connector 84"/>
          <p:cNvCxnSpPr/>
          <p:nvPr/>
        </p:nvCxnSpPr>
        <p:spPr>
          <a:xfrm>
            <a:off x="2148840" y="1645920"/>
            <a:ext cx="457200" cy="137160"/>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148840" y="2212848"/>
            <a:ext cx="457200" cy="27432"/>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148840" y="2697480"/>
            <a:ext cx="457200" cy="82296"/>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148840" y="3154680"/>
            <a:ext cx="457200" cy="192024"/>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sp>
        <p:nvSpPr>
          <p:cNvPr id="89" name="Rounded Rectangle 88"/>
          <p:cNvSpPr/>
          <p:nvPr/>
        </p:nvSpPr>
        <p:spPr>
          <a:xfrm>
            <a:off x="5212080" y="1554480"/>
            <a:ext cx="1600200" cy="86868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0">
                <a:solidFill>
                  <a:srgbClr val="3B312B"/>
                </a:solidFill>
                <a:latin typeface="Outfit"/>
              </a:rPr>
              <a:t>30-minute forecast</a:t>
            </a:r>
          </a:p>
          <a:p>
            <a:pPr algn="ctr" marL="0" indent="0">
              <a:spcBef>
                <a:spcPts val="0"/>
              </a:spcBef>
              <a:buNone/>
            </a:pPr>
            <a:r>
              <a:rPr sz="850" b="0">
                <a:solidFill>
                  <a:srgbClr val="3B312B"/>
                </a:solidFill>
                <a:latin typeface="Outfit"/>
              </a:rPr>
              <a:t>with uncertainty</a:t>
            </a:r>
          </a:p>
          <a:p>
            <a:pPr algn="ctr" marL="0" indent="0">
              <a:spcBef>
                <a:spcPts val="0"/>
              </a:spcBef>
              <a:buNone/>
            </a:pPr>
            <a:r>
              <a:rPr sz="850" b="0">
                <a:solidFill>
                  <a:srgbClr val="3B312B"/>
                </a:solidFill>
                <a:latin typeface="Outfit"/>
              </a:rPr>
              <a:t>Tc now and Tc in 30 min</a:t>
            </a:r>
          </a:p>
        </p:txBody>
      </p:sp>
      <p:sp>
        <p:nvSpPr>
          <p:cNvPr id="90" name="Rounded Rectangle 89"/>
          <p:cNvSpPr/>
          <p:nvPr/>
        </p:nvSpPr>
        <p:spPr>
          <a:xfrm>
            <a:off x="5212080" y="2560320"/>
            <a:ext cx="1600200" cy="86868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0">
                <a:solidFill>
                  <a:srgbClr val="3B312B"/>
                </a:solidFill>
                <a:latin typeface="Outfit"/>
              </a:rPr>
              <a:t>Tiering and work-rest rule</a:t>
            </a:r>
          </a:p>
          <a:p>
            <a:pPr algn="ctr" marL="0" indent="0">
              <a:spcBef>
                <a:spcPts val="0"/>
              </a:spcBef>
              <a:buNone/>
            </a:pPr>
            <a:r>
              <a:rPr sz="850" b="0">
                <a:solidFill>
                  <a:srgbClr val="3B312B"/>
                </a:solidFill>
                <a:latin typeface="Outfit"/>
              </a:rPr>
              <a:t>GREEN / AMBER / RED</a:t>
            </a:r>
          </a:p>
          <a:p>
            <a:pPr algn="ctr" marL="0" indent="0">
              <a:spcBef>
                <a:spcPts val="0"/>
              </a:spcBef>
              <a:buNone/>
            </a:pPr>
            <a:r>
              <a:rPr sz="850" b="0">
                <a:solidFill>
                  <a:srgbClr val="3B312B"/>
                </a:solidFill>
                <a:latin typeface="Outfit"/>
              </a:rPr>
              <a:t>human first-aider on RED</a:t>
            </a:r>
          </a:p>
        </p:txBody>
      </p:sp>
      <p:cxnSp>
        <p:nvCxnSpPr>
          <p:cNvPr id="91" name="Connector 90"/>
          <p:cNvCxnSpPr/>
          <p:nvPr/>
        </p:nvCxnSpPr>
        <p:spPr>
          <a:xfrm>
            <a:off x="4754880" y="1984248"/>
            <a:ext cx="457200" cy="0"/>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754880" y="2990088"/>
            <a:ext cx="457200" cy="0"/>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016752" y="2423160"/>
            <a:ext cx="0" cy="137160"/>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178040" y="1234440"/>
            <a:ext cx="1737360" cy="182880"/>
          </a:xfrm>
          <a:prstGeom prst="rect">
            <a:avLst/>
          </a:prstGeom>
          <a:noFill/>
        </p:spPr>
        <p:txBody>
          <a:bodyPr wrap="square" anchor="t" lIns="36576" rIns="36576" tIns="18288" bIns="18288">
            <a:spAutoFit/>
          </a:bodyPr>
          <a:lstStyle/>
          <a:p>
            <a:pPr marL="0" indent="0" algn="l">
              <a:spcBef>
                <a:spcPts val="300"/>
              </a:spcBef>
              <a:buNone/>
            </a:pPr>
            <a:r>
              <a:rPr sz="800" b="1">
                <a:solidFill>
                  <a:srgbClr val="7A6656"/>
                </a:solidFill>
                <a:latin typeface="Outfit"/>
              </a:rPr>
              <a:t>OUTPUTS</a:t>
            </a:r>
          </a:p>
        </p:txBody>
      </p:sp>
      <p:sp>
        <p:nvSpPr>
          <p:cNvPr id="95" name="Rounded Rectangle 94"/>
          <p:cNvSpPr/>
          <p:nvPr/>
        </p:nvSpPr>
        <p:spPr>
          <a:xfrm>
            <a:off x="7178040" y="1417320"/>
            <a:ext cx="1691640" cy="64008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Worker phone</a:t>
            </a:r>
          </a:p>
          <a:p>
            <a:pPr algn="ctr" marL="0" indent="0">
              <a:spcBef>
                <a:spcPts val="0"/>
              </a:spcBef>
              <a:buNone/>
            </a:pPr>
            <a:r>
              <a:rPr sz="800" b="0">
                <a:solidFill>
                  <a:srgbClr val="3B312B"/>
                </a:solidFill>
                <a:latin typeface="Outfit"/>
              </a:rPr>
              <a:t>own language, WhatsApp / SMS</a:t>
            </a:r>
          </a:p>
          <a:p>
            <a:pPr algn="ctr" marL="0" indent="0">
              <a:spcBef>
                <a:spcPts val="0"/>
              </a:spcBef>
              <a:buNone/>
            </a:pPr>
            <a:r>
              <a:rPr sz="800" b="0">
                <a:solidFill>
                  <a:srgbClr val="3B312B"/>
                </a:solidFill>
                <a:latin typeface="Outfit"/>
              </a:rPr>
              <a:t>owns the data</a:t>
            </a:r>
          </a:p>
        </p:txBody>
      </p:sp>
      <p:sp>
        <p:nvSpPr>
          <p:cNvPr id="96" name="Rounded Rectangle 95"/>
          <p:cNvSpPr/>
          <p:nvPr/>
        </p:nvSpPr>
        <p:spPr>
          <a:xfrm>
            <a:off x="7178040" y="2167128"/>
            <a:ext cx="1691640" cy="64008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Supervisor</a:t>
            </a:r>
          </a:p>
          <a:p>
            <a:pPr algn="ctr" marL="0" indent="0">
              <a:spcBef>
                <a:spcPts val="0"/>
              </a:spcBef>
              <a:buNone/>
            </a:pPr>
            <a:r>
              <a:rPr sz="800" b="0">
                <a:solidFill>
                  <a:srgbClr val="3B312B"/>
                </a:solidFill>
                <a:latin typeface="Outfit"/>
              </a:rPr>
              <a:t>risk tier and action only</a:t>
            </a:r>
          </a:p>
          <a:p>
            <a:pPr algn="ctr" marL="0" indent="0">
              <a:spcBef>
                <a:spcPts val="0"/>
              </a:spcBef>
              <a:buNone/>
            </a:pPr>
            <a:r>
              <a:rPr sz="800" b="0">
                <a:solidFill>
                  <a:srgbClr val="3B312B"/>
                </a:solidFill>
                <a:latin typeface="Outfit"/>
              </a:rPr>
              <a:t>no temperature or heart rate</a:t>
            </a:r>
          </a:p>
        </p:txBody>
      </p:sp>
      <p:sp>
        <p:nvSpPr>
          <p:cNvPr id="97" name="Rounded Rectangle 96"/>
          <p:cNvSpPr/>
          <p:nvPr/>
        </p:nvSpPr>
        <p:spPr>
          <a:xfrm>
            <a:off x="7178040" y="2916936"/>
            <a:ext cx="1691640" cy="658368"/>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Health authority</a:t>
            </a:r>
          </a:p>
          <a:p>
            <a:pPr algn="ctr" marL="0" indent="0">
              <a:spcBef>
                <a:spcPts val="0"/>
              </a:spcBef>
              <a:buNone/>
            </a:pPr>
            <a:r>
              <a:rPr sz="800" b="0">
                <a:solidFill>
                  <a:srgbClr val="3B312B"/>
                </a:solidFill>
                <a:latin typeface="Outfit"/>
              </a:rPr>
              <a:t>aggregated, k ≥ 5</a:t>
            </a:r>
          </a:p>
          <a:p>
            <a:pPr algn="ctr" marL="0" indent="0">
              <a:spcBef>
                <a:spcPts val="0"/>
              </a:spcBef>
              <a:buNone/>
            </a:pPr>
            <a:r>
              <a:rPr sz="800" b="0">
                <a:solidFill>
                  <a:srgbClr val="3B312B"/>
                </a:solidFill>
                <a:latin typeface="Outfit"/>
              </a:rPr>
              <a:t>heat early-warning map</a:t>
            </a:r>
          </a:p>
        </p:txBody>
      </p:sp>
      <p:cxnSp>
        <p:nvCxnSpPr>
          <p:cNvPr id="98" name="Connector 97"/>
          <p:cNvCxnSpPr/>
          <p:nvPr/>
        </p:nvCxnSpPr>
        <p:spPr>
          <a:xfrm flipV="1">
            <a:off x="6812280" y="1737360"/>
            <a:ext cx="365760" cy="1234440"/>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6812280" y="2487168"/>
            <a:ext cx="365760" cy="484632"/>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812280" y="2971800"/>
            <a:ext cx="365760" cy="265176"/>
          </a:xfrm>
          <a:prstGeom prst="line">
            <a:avLst/>
          </a:prstGeom>
          <a:ln w="17780">
            <a:solidFill>
              <a:srgbClr val="7A6656"/>
            </a:solidFill>
            <a:tailEnd type="triangle"/>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274320" y="3749039"/>
            <a:ext cx="8595360" cy="457200"/>
          </a:xfrm>
          <a:prstGeom prst="roundRect">
            <a:avLst>
              <a:gd name="adj" fmla="val 12000"/>
            </a:avLst>
          </a:prstGeom>
          <a:solidFill>
            <a:srgbClr val="DCEBE2"/>
          </a:solidFill>
          <a:ln w="11430">
            <a:solidFill>
              <a:srgbClr val="2F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3B312B"/>
                </a:solidFill>
                <a:latin typeface="Outfit"/>
              </a:rPr>
              <a:t>Privacy by design: </a:t>
            </a:r>
          </a:p>
          <a:p>
            <a:pPr algn="ctr" marL="0" indent="0">
              <a:spcBef>
                <a:spcPts val="0"/>
              </a:spcBef>
              <a:buNone/>
            </a:pPr>
            <a:r>
              <a:rPr sz="850" b="0">
                <a:solidFill>
                  <a:srgbClr val="3B312B"/>
                </a:solidFill>
                <a:latin typeface="Outfit"/>
              </a:rPr>
              <a:t>explicit consent, data minimisation, worker-owned data, role-based views, aggregate-only reporting, no use for hiring, pay or dismissal</a:t>
            </a:r>
          </a:p>
        </p:txBody>
      </p:sp>
      <p:sp>
        <p:nvSpPr>
          <p:cNvPr id="102" name="TextBox 101"/>
          <p:cNvSpPr txBox="1"/>
          <p:nvPr/>
        </p:nvSpPr>
        <p:spPr>
          <a:xfrm>
            <a:off x="274320" y="4270248"/>
            <a:ext cx="8595360" cy="457200"/>
          </a:xfrm>
          <a:prstGeom prst="rect">
            <a:avLst/>
          </a:prstGeom>
          <a:noFill/>
        </p:spPr>
        <p:txBody>
          <a:bodyPr wrap="square" anchor="t" lIns="36576" rIns="36576" tIns="18288" bIns="18288">
            <a:spAutoFit/>
          </a:bodyPr>
          <a:lstStyle/>
          <a:p>
            <a:pPr marL="0" indent="0" algn="l">
              <a:spcBef>
                <a:spcPts val="300"/>
              </a:spcBef>
              <a:buNone/>
            </a:pPr>
            <a:r>
              <a:rPr sz="850" b="1">
                <a:solidFill>
                  <a:srgbClr val="7A6656"/>
                </a:solidFill>
                <a:latin typeface="Outfit"/>
              </a:rPr>
              <a:t>Validation loop (built): </a:t>
            </a:r>
            <a:r>
              <a:rPr sz="850" b="0">
                <a:solidFill>
                  <a:srgbClr val="3B312B"/>
                </a:solidFill>
                <a:latin typeface="Outfit"/>
              </a:rPr>
              <a:t>a hidden, individually varied synthetic worker (richer physiology, clothing, wind, sensor errors) feeds the same estimator that would run in the field, so the estimator never sees the truth. Screening and decision support only; not a diagnosis.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84" name="Google Shape;84;p17"/>
          <p:cNvSpPr txBox="1"/>
          <p:nvPr/>
        </p:nvSpPr>
        <p:spPr>
          <a:xfrm>
            <a:off x="259175" y="861225"/>
            <a:ext cx="86844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Target users and intended outcome*</a:t>
            </a:r>
            <a:endParaRPr sz="1200">
              <a:solidFill>
                <a:schemeClr val="dk2"/>
              </a:solidFill>
              <a:latin typeface="Outfit"/>
              <a:ea typeface="Outfit"/>
              <a:cs typeface="Outfit"/>
              <a:sym typeface="Outfit"/>
            </a:endParaRPr>
          </a:p>
        </p:txBody>
      </p:sp>
      <p:pic>
        <p:nvPicPr>
          <p:cNvPr id="85" name="Google Shape;85;p17"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86" name="TextBox 85"/>
          <p:cNvSpPr txBox="1"/>
          <p:nvPr/>
        </p:nvSpPr>
        <p:spPr>
          <a:xfrm>
            <a:off x="320040" y="1371600"/>
            <a:ext cx="411480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Who it is for</a:t>
            </a:r>
          </a:p>
          <a:p>
            <a:pPr marL="150000" indent="-150000" algn="l">
              <a:spcBef>
                <a:spcPts val="300"/>
              </a:spcBef>
              <a:buChar char="•"/>
            </a:pPr>
            <a:r>
              <a:rPr sz="950" b="1">
                <a:solidFill>
                  <a:srgbClr val="3B312B"/>
                </a:solidFill>
                <a:latin typeface="Outfit"/>
              </a:rPr>
              <a:t>Outdoor workers </a:t>
            </a:r>
            <a:r>
              <a:rPr sz="950" b="0">
                <a:solidFill>
                  <a:srgbClr val="3B312B"/>
                </a:solidFill>
                <a:latin typeface="Outfit"/>
              </a:rPr>
              <a:t>in construction, logistics, delivery and agriculture in hot climates, above all people in their first week on the job, when acclimatization is lowest.</a:t>
            </a:r>
          </a:p>
          <a:p>
            <a:pPr marL="150000" indent="-150000" algn="l">
              <a:spcBef>
                <a:spcPts val="300"/>
              </a:spcBef>
              <a:buChar char="•"/>
            </a:pPr>
            <a:r>
              <a:rPr sz="950" b="1">
                <a:solidFill>
                  <a:srgbClr val="3B312B"/>
                </a:solidFill>
                <a:latin typeface="Outfit"/>
              </a:rPr>
              <a:t>Site supervisors and safety officers </a:t>
            </a:r>
            <a:r>
              <a:rPr sz="950" b="0">
                <a:solidFill>
                  <a:srgbClr val="3B312B"/>
                </a:solidFill>
                <a:latin typeface="Outfit"/>
              </a:rPr>
              <a:t>who need a clear tier and action, not medical data.</a:t>
            </a:r>
          </a:p>
          <a:p>
            <a:pPr marL="150000" indent="-150000" algn="l">
              <a:spcBef>
                <a:spcPts val="300"/>
              </a:spcBef>
              <a:buChar char="•"/>
            </a:pPr>
            <a:r>
              <a:rPr sz="950" b="1">
                <a:solidFill>
                  <a:srgbClr val="3B312B"/>
                </a:solidFill>
                <a:latin typeface="Outfit"/>
              </a:rPr>
              <a:t>Health authorities and insurers </a:t>
            </a:r>
            <a:r>
              <a:rPr sz="950" b="0">
                <a:solidFill>
                  <a:srgbClr val="3B312B"/>
                </a:solidFill>
                <a:latin typeface="Outfit"/>
              </a:rPr>
              <a:t>who need an aggregated early-warning picture of heat illness risk.</a:t>
            </a:r>
          </a:p>
          <a:p>
            <a:pPr marL="0" indent="0" algn="l">
              <a:spcBef>
                <a:spcPts val="600"/>
              </a:spcBef>
              <a:buNone/>
            </a:pPr>
            <a:r>
              <a:rPr sz="1050" b="1">
                <a:solidFill>
                  <a:srgbClr val="7A6656"/>
                </a:solidFill>
                <a:latin typeface="Outfit"/>
              </a:rPr>
              <a:t>Why current practice falls short</a:t>
            </a:r>
          </a:p>
          <a:p>
            <a:pPr marL="150000" indent="-150000" algn="l">
              <a:spcBef>
                <a:spcPts val="300"/>
              </a:spcBef>
              <a:buChar char="•"/>
            </a:pPr>
            <a:r>
              <a:rPr sz="950" b="0">
                <a:solidFill>
                  <a:srgbClr val="3B312B"/>
                </a:solidFill>
                <a:latin typeface="Outfit"/>
              </a:rPr>
              <a:t>Statutory midday breaks (UAE: 12:30 to 15:00, 15 June to 15 September) are a fixed time window. Strain also peaks in humid mornings and late afternoons.</a:t>
            </a:r>
          </a:p>
          <a:p>
            <a:pPr marL="150000" indent="-150000" algn="l">
              <a:spcBef>
                <a:spcPts val="300"/>
              </a:spcBef>
              <a:buChar char="•"/>
            </a:pPr>
            <a:r>
              <a:rPr sz="950" b="0">
                <a:solidFill>
                  <a:srgbClr val="3B312B"/>
                </a:solidFill>
                <a:latin typeface="Outfit"/>
              </a:rPr>
              <a:t>Site-wide WBGT cut-offs treat a day-one rebar fixer and a ten-year veteran the same.</a:t>
            </a:r>
          </a:p>
          <a:p>
            <a:pPr marL="150000" indent="-150000" algn="l">
              <a:spcBef>
                <a:spcPts val="300"/>
              </a:spcBef>
              <a:buChar char="•"/>
            </a:pPr>
            <a:r>
              <a:rPr sz="950" b="0">
                <a:solidFill>
                  <a:srgbClr val="3B312B"/>
                </a:solidFill>
                <a:latin typeface="Outfit"/>
              </a:rPr>
              <a:t>ILO estimates heat stress will cost 2.2% of global working hours by 2030, equal to 80 million full-time jobs.</a:t>
            </a:r>
          </a:p>
        </p:txBody>
      </p:sp>
      <p:sp>
        <p:nvSpPr>
          <p:cNvPr id="87" name="TextBox 86"/>
          <p:cNvSpPr txBox="1"/>
          <p:nvPr/>
        </p:nvSpPr>
        <p:spPr>
          <a:xfrm>
            <a:off x="4663440" y="1371600"/>
            <a:ext cx="420624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Intended outcome</a:t>
            </a:r>
          </a:p>
          <a:p>
            <a:pPr marL="150000" indent="-150000" algn="l">
              <a:spcBef>
                <a:spcPts val="300"/>
              </a:spcBef>
              <a:buChar char="•"/>
            </a:pPr>
            <a:r>
              <a:rPr sz="950" b="1">
                <a:solidFill>
                  <a:srgbClr val="3B312B"/>
                </a:solidFill>
                <a:latin typeface="Outfit"/>
              </a:rPr>
              <a:t>Act before collapse: </a:t>
            </a:r>
            <a:r>
              <a:rPr sz="950" b="0">
                <a:solidFill>
                  <a:srgbClr val="3B312B"/>
                </a:solidFill>
                <a:latin typeface="Outfit"/>
              </a:rPr>
              <a:t>each worker gets a 30-minute-ahead warning and a specific action in their own language.</a:t>
            </a:r>
          </a:p>
          <a:p>
            <a:pPr marL="150000" indent="-150000" algn="l">
              <a:spcBef>
                <a:spcPts val="300"/>
              </a:spcBef>
              <a:buChar char="•"/>
            </a:pPr>
            <a:r>
              <a:rPr sz="950" b="1">
                <a:solidFill>
                  <a:srgbClr val="3B312B"/>
                </a:solidFill>
                <a:latin typeface="Outfit"/>
              </a:rPr>
              <a:t>Protect without stopping work: </a:t>
            </a:r>
            <a:r>
              <a:rPr sz="950" b="0">
                <a:solidFill>
                  <a:srgbClr val="3B312B"/>
                </a:solidFill>
                <a:latin typeface="Outfit"/>
              </a:rPr>
              <a:t>in simulation, </a:t>
            </a:r>
            <a:r>
              <a:rPr sz="950" b="1">
                <a:solidFill>
                  <a:srgbClr val="3B312B"/>
                </a:solidFill>
                <a:latin typeface="Outfit"/>
              </a:rPr>
              <a:t>4.3% of workers reach 38.5 °C with HeatGuard versus 37.8% today and 22.4% with a site-wide cut-off,</a:t>
            </a:r>
            <a:r>
              <a:rPr sz="950" b="0">
                <a:solidFill>
                  <a:srgbClr val="3B312B"/>
                </a:solidFill>
                <a:latin typeface="Outfit"/>
              </a:rPr>
              <a:t> while keeping 7.0 productive hours per shift (6.0 h with the cut-off).</a:t>
            </a:r>
          </a:p>
          <a:p>
            <a:pPr marL="150000" indent="-150000" algn="l">
              <a:spcBef>
                <a:spcPts val="300"/>
              </a:spcBef>
              <a:buChar char="•"/>
            </a:pPr>
            <a:r>
              <a:rPr sz="950" b="1">
                <a:solidFill>
                  <a:srgbClr val="3B312B"/>
                </a:solidFill>
                <a:latin typeface="Outfit"/>
              </a:rPr>
              <a:t>Fair by design: </a:t>
            </a:r>
            <a:r>
              <a:rPr sz="950" b="0">
                <a:solidFill>
                  <a:srgbClr val="3B312B"/>
                </a:solidFill>
                <a:latin typeface="Outfit"/>
              </a:rPr>
              <a:t>the new-arrival group is protected most (50.8% to 3.9% in simulation).</a:t>
            </a:r>
          </a:p>
          <a:p>
            <a:pPr marL="150000" indent="-150000" algn="l">
              <a:spcBef>
                <a:spcPts val="300"/>
              </a:spcBef>
              <a:buChar char="•"/>
            </a:pPr>
            <a:r>
              <a:rPr sz="950" b="1">
                <a:solidFill>
                  <a:srgbClr val="3B312B"/>
                </a:solidFill>
                <a:latin typeface="Outfit"/>
              </a:rPr>
              <a:t>Worker-first data: </a:t>
            </a:r>
            <a:r>
              <a:rPr sz="950" b="0">
                <a:solidFill>
                  <a:srgbClr val="3B312B"/>
                </a:solidFill>
                <a:latin typeface="Outfit"/>
              </a:rPr>
              <a:t>the worker owns the data; the employer sees the tier only.</a:t>
            </a:r>
          </a:p>
          <a:p>
            <a:pPr marL="0" indent="0" algn="l">
              <a:spcBef>
                <a:spcPts val="600"/>
              </a:spcBef>
              <a:buNone/>
            </a:pPr>
            <a:r>
              <a:rPr sz="1050" b="1">
                <a:solidFill>
                  <a:srgbClr val="7A6656"/>
                </a:solidFill>
                <a:latin typeface="Outfit"/>
              </a:rPr>
              <a:t>Setting</a:t>
            </a:r>
          </a:p>
          <a:p>
            <a:pPr marL="150000" indent="-150000" algn="l">
              <a:spcBef>
                <a:spcPts val="300"/>
              </a:spcBef>
              <a:buChar char="•"/>
            </a:pPr>
            <a:r>
              <a:rPr sz="950" b="0">
                <a:solidFill>
                  <a:srgbClr val="3B312B"/>
                </a:solidFill>
                <a:latin typeface="Outfit"/>
              </a:rPr>
              <a:t>First deployment: Abu Dhabi construction and delivery workforce, then any hot-climate outdoor workforce.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8"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91" name="Google Shape;91;p18"/>
          <p:cNvSpPr txBox="1"/>
          <p:nvPr/>
        </p:nvSpPr>
        <p:spPr>
          <a:xfrm>
            <a:off x="259175" y="861225"/>
            <a:ext cx="86757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How will success be measured?*</a:t>
            </a:r>
            <a:endParaRPr sz="1200">
              <a:solidFill>
                <a:schemeClr val="dk2"/>
              </a:solidFill>
              <a:latin typeface="Outfit"/>
              <a:ea typeface="Outfit"/>
              <a:cs typeface="Outfit"/>
              <a:sym typeface="Outfit"/>
            </a:endParaRPr>
          </a:p>
        </p:txBody>
      </p:sp>
      <p:pic>
        <p:nvPicPr>
          <p:cNvPr id="92" name="Google Shape;92;p18"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93" name="TextBox 92"/>
          <p:cNvSpPr txBox="1"/>
          <p:nvPr/>
        </p:nvSpPr>
        <p:spPr>
          <a:xfrm>
            <a:off x="320040" y="1371600"/>
            <a:ext cx="429768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Success measures for the pilot</a:t>
            </a:r>
          </a:p>
          <a:p>
            <a:pPr marL="150000" indent="-150000" algn="l">
              <a:spcBef>
                <a:spcPts val="300"/>
              </a:spcBef>
              <a:buChar char="•"/>
            </a:pPr>
            <a:r>
              <a:rPr sz="930" b="1">
                <a:solidFill>
                  <a:srgbClr val="3B312B"/>
                </a:solidFill>
                <a:latin typeface="Outfit"/>
              </a:rPr>
              <a:t>Primary: </a:t>
            </a:r>
            <a:r>
              <a:rPr sz="930" b="0">
                <a:solidFill>
                  <a:srgbClr val="3B312B"/>
                </a:solidFill>
                <a:latin typeface="Outfit"/>
              </a:rPr>
              <a:t>share of worker-shifts reaching a core temperature of 38.5 °C (validated sensor or ingestible pill in a sub-study) and heat-illness incidents, against a matched baseline period.</a:t>
            </a:r>
          </a:p>
          <a:p>
            <a:pPr marL="150000" indent="-150000" algn="l">
              <a:spcBef>
                <a:spcPts val="300"/>
              </a:spcBef>
              <a:buChar char="•"/>
            </a:pPr>
            <a:r>
              <a:rPr sz="930" b="1">
                <a:solidFill>
                  <a:srgbClr val="3B312B"/>
                </a:solidFill>
                <a:latin typeface="Outfit"/>
              </a:rPr>
              <a:t>Estimate quality: </a:t>
            </a:r>
            <a:r>
              <a:rPr sz="930" b="0">
                <a:solidFill>
                  <a:srgbClr val="3B312B"/>
                </a:solidFill>
                <a:latin typeface="Outfit"/>
              </a:rPr>
              <a:t>RMSE ≤ 0.5 °C against pill reference; 95% interval coverage.</a:t>
            </a:r>
          </a:p>
          <a:p>
            <a:pPr marL="150000" indent="-150000" algn="l">
              <a:spcBef>
                <a:spcPts val="300"/>
              </a:spcBef>
              <a:buChar char="•"/>
            </a:pPr>
            <a:r>
              <a:rPr sz="930" b="1">
                <a:solidFill>
                  <a:srgbClr val="3B312B"/>
                </a:solidFill>
                <a:latin typeface="Outfit"/>
              </a:rPr>
              <a:t>Timeliness: </a:t>
            </a:r>
            <a:r>
              <a:rPr sz="930" b="0">
                <a:solidFill>
                  <a:srgbClr val="3B312B"/>
                </a:solidFill>
                <a:latin typeface="Outfit"/>
              </a:rPr>
              <a:t>at least 80% of 38.5 °C events warned 10 or more minutes ahead.</a:t>
            </a:r>
          </a:p>
          <a:p>
            <a:pPr marL="150000" indent="-150000" algn="l">
              <a:spcBef>
                <a:spcPts val="300"/>
              </a:spcBef>
              <a:buChar char="•"/>
            </a:pPr>
            <a:r>
              <a:rPr sz="930" b="1">
                <a:solidFill>
                  <a:srgbClr val="3B312B"/>
                </a:solidFill>
                <a:latin typeface="Outfit"/>
              </a:rPr>
              <a:t>Burden: </a:t>
            </a:r>
            <a:r>
              <a:rPr sz="930" b="0">
                <a:solidFill>
                  <a:srgbClr val="3B312B"/>
                </a:solidFill>
                <a:latin typeface="Outfit"/>
              </a:rPr>
              <a:t>RED alerts per worker-shift, alert acknowledgement rate, false-alarm rate.</a:t>
            </a:r>
          </a:p>
          <a:p>
            <a:pPr marL="150000" indent="-150000" algn="l">
              <a:spcBef>
                <a:spcPts val="300"/>
              </a:spcBef>
              <a:buChar char="•"/>
            </a:pPr>
            <a:r>
              <a:rPr sz="930" b="1">
                <a:solidFill>
                  <a:srgbClr val="3B312B"/>
                </a:solidFill>
                <a:latin typeface="Outfit"/>
              </a:rPr>
              <a:t>Productivity: </a:t>
            </a:r>
            <a:r>
              <a:rPr sz="930" b="0">
                <a:solidFill>
                  <a:srgbClr val="3B312B"/>
                </a:solidFill>
                <a:latin typeface="Outfit"/>
              </a:rPr>
              <a:t>productive hours kept versus status quo and cut-off rules.</a:t>
            </a:r>
          </a:p>
          <a:p>
            <a:pPr marL="150000" indent="-150000" algn="l">
              <a:spcBef>
                <a:spcPts val="300"/>
              </a:spcBef>
              <a:buChar char="•"/>
            </a:pPr>
            <a:r>
              <a:rPr sz="930" b="1">
                <a:solidFill>
                  <a:srgbClr val="3B312B"/>
                </a:solidFill>
                <a:latin typeface="Outfit"/>
              </a:rPr>
              <a:t>Trust and fairness: </a:t>
            </a:r>
            <a:r>
              <a:rPr sz="930" b="0">
                <a:solidFill>
                  <a:srgbClr val="3B312B"/>
                </a:solidFill>
                <a:latin typeface="Outfit"/>
              </a:rPr>
              <a:t>worker trust survey, and every metric split by acclimatization, age, BMI and language.</a:t>
            </a:r>
          </a:p>
          <a:p>
            <a:pPr marL="150000" indent="-150000" algn="l">
              <a:spcBef>
                <a:spcPts val="300"/>
              </a:spcBef>
              <a:buChar char="•"/>
            </a:pPr>
            <a:r>
              <a:rPr sz="930" b="1">
                <a:solidFill>
                  <a:srgbClr val="3B312B"/>
                </a:solidFill>
                <a:latin typeface="Outfit"/>
              </a:rPr>
              <a:t>Adoption: </a:t>
            </a:r>
            <a:r>
              <a:rPr sz="930" b="0">
                <a:solidFill>
                  <a:srgbClr val="3B312B"/>
                </a:solidFill>
                <a:latin typeface="Outfit"/>
              </a:rPr>
              <a:t>share of RED alerts followed by a rest within 5 minutes.</a:t>
            </a:r>
          </a:p>
        </p:txBody>
      </p:sp>
      <p:graphicFrame>
        <p:nvGraphicFramePr>
          <p:cNvPr id="94" name="Table 93"/>
          <p:cNvGraphicFramePr>
            <a:graphicFrameLocks noGrp="1"/>
          </p:cNvGraphicFramePr>
          <p:nvPr/>
        </p:nvGraphicFramePr>
        <p:xfrm>
          <a:off x="4754880" y="1417320"/>
          <a:ext cx="4114800" cy="1280160"/>
        </p:xfrm>
        <a:graphic>
          <a:graphicData uri="http://schemas.openxmlformats.org/drawingml/2006/table">
            <a:tbl>
              <a:tblPr firstRow="0" bandRow="0">
                <a:tableStyleId>{2D5ABB26-0587-4C30-8999-92F81FD0307C}</a:tableStyleId>
              </a:tblPr>
              <a:tblGrid>
                <a:gridCol w="1600200"/>
                <a:gridCol w="822960"/>
                <a:gridCol w="868680"/>
                <a:gridCol w="822960"/>
              </a:tblGrid>
              <a:tr h="256032">
                <a:tc>
                  <a:txBody>
                    <a:bodyPr wrap="square"/>
                    <a:lstStyle/>
                    <a:p>
                      <a:pPr marL="0" indent="0">
                        <a:spcBef>
                          <a:spcPts val="0"/>
                        </a:spcBef>
                        <a:buNone/>
                      </a:pPr>
                      <a:r>
                        <a:rPr sz="850" b="1">
                          <a:solidFill>
                            <a:srgbClr val="FFFFFF"/>
                          </a:solidFill>
                          <a:latin typeface="Outfit"/>
                        </a:rPr>
                        <a:t>Held-out synthetic cohort (n = 3,000)</a:t>
                      </a:r>
                    </a:p>
                  </a:txBody>
                  <a:tcPr marL="45720" marR="45720" marT="22860" marB="22860" anchor="ctr">
                    <a:solidFill>
                      <a:srgbClr val="7A6656"/>
                    </a:solidFill>
                  </a:tcPr>
                </a:tc>
                <a:tc>
                  <a:txBody>
                    <a:bodyPr wrap="square"/>
                    <a:lstStyle/>
                    <a:p>
                      <a:pPr marL="0" indent="0">
                        <a:spcBef>
                          <a:spcPts val="0"/>
                        </a:spcBef>
                        <a:buNone/>
                      </a:pPr>
                      <a:r>
                        <a:rPr sz="850" b="1">
                          <a:solidFill>
                            <a:srgbClr val="FFFFFF"/>
                          </a:solidFill>
                          <a:latin typeface="Outfit"/>
                        </a:rPr>
                        <a:t>A Status quo</a:t>
                      </a:r>
                    </a:p>
                  </a:txBody>
                  <a:tcPr marL="45720" marR="45720" marT="22860" marB="22860" anchor="ctr">
                    <a:solidFill>
                      <a:srgbClr val="7A6656"/>
                    </a:solidFill>
                  </a:tcPr>
                </a:tc>
                <a:tc>
                  <a:txBody>
                    <a:bodyPr wrap="square"/>
                    <a:lstStyle/>
                    <a:p>
                      <a:pPr marL="0" indent="0">
                        <a:spcBef>
                          <a:spcPts val="0"/>
                        </a:spcBef>
                        <a:buNone/>
                      </a:pPr>
                      <a:r>
                        <a:rPr sz="850" b="1">
                          <a:solidFill>
                            <a:srgbClr val="FFFFFF"/>
                          </a:solidFill>
                          <a:latin typeface="Outfit"/>
                        </a:rPr>
                        <a:t>B WBGT cut-off</a:t>
                      </a:r>
                    </a:p>
                  </a:txBody>
                  <a:tcPr marL="45720" marR="45720" marT="22860" marB="22860" anchor="ctr">
                    <a:solidFill>
                      <a:srgbClr val="7A6656"/>
                    </a:solidFill>
                  </a:tcPr>
                </a:tc>
                <a:tc>
                  <a:txBody>
                    <a:bodyPr wrap="square"/>
                    <a:lstStyle/>
                    <a:p>
                      <a:pPr marL="0" indent="0">
                        <a:spcBef>
                          <a:spcPts val="0"/>
                        </a:spcBef>
                        <a:buNone/>
                      </a:pPr>
                      <a:r>
                        <a:rPr sz="850" b="1">
                          <a:solidFill>
                            <a:srgbClr val="FFFFFF"/>
                          </a:solidFill>
                          <a:latin typeface="Outfit"/>
                        </a:rPr>
                        <a:t>C HeatGuard</a:t>
                      </a:r>
                    </a:p>
                  </a:txBody>
                  <a:tcPr marL="45720" marR="45720" marT="22860" marB="22860" anchor="ctr">
                    <a:solidFill>
                      <a:srgbClr val="7A6656"/>
                    </a:solidFill>
                  </a:tcPr>
                </a:tc>
              </a:tr>
              <a:tr h="256032">
                <a:tc>
                  <a:txBody>
                    <a:bodyPr wrap="square"/>
                    <a:lstStyle/>
                    <a:p>
                      <a:pPr marL="0" indent="0">
                        <a:spcBef>
                          <a:spcPts val="0"/>
                        </a:spcBef>
                        <a:buNone/>
                      </a:pPr>
                      <a:r>
                        <a:rPr sz="850" b="1">
                          <a:solidFill>
                            <a:srgbClr val="3B312B"/>
                          </a:solidFill>
                          <a:latin typeface="Outfit"/>
                        </a:rPr>
                        <a:t>Reach 38.5 °C</a:t>
                      </a:r>
                    </a:p>
                  </a:txBody>
                  <a:tcPr marL="45720" marR="45720" marT="22860" marB="22860" anchor="ctr">
                    <a:solidFill>
                      <a:srgbClr val="F0E9DF"/>
                    </a:solidFill>
                  </a:tcPr>
                </a:tc>
                <a:tc>
                  <a:txBody>
                    <a:bodyPr wrap="square"/>
                    <a:lstStyle/>
                    <a:p>
                      <a:pPr marL="0" indent="0">
                        <a:spcBef>
                          <a:spcPts val="0"/>
                        </a:spcBef>
                        <a:buNone/>
                      </a:pPr>
                      <a:r>
                        <a:rPr sz="850" b="0">
                          <a:solidFill>
                            <a:srgbClr val="3B312B"/>
                          </a:solidFill>
                          <a:latin typeface="Outfit"/>
                        </a:rPr>
                        <a:t>37.8%</a:t>
                      </a:r>
                    </a:p>
                  </a:txBody>
                  <a:tcPr marL="45720" marR="45720" marT="22860" marB="22860" anchor="ctr">
                    <a:solidFill>
                      <a:srgbClr val="F0E9DF"/>
                    </a:solidFill>
                  </a:tcPr>
                </a:tc>
                <a:tc>
                  <a:txBody>
                    <a:bodyPr wrap="square"/>
                    <a:lstStyle/>
                    <a:p>
                      <a:pPr marL="0" indent="0">
                        <a:spcBef>
                          <a:spcPts val="0"/>
                        </a:spcBef>
                        <a:buNone/>
                      </a:pPr>
                      <a:r>
                        <a:rPr sz="850" b="0">
                          <a:solidFill>
                            <a:srgbClr val="3B312B"/>
                          </a:solidFill>
                          <a:latin typeface="Outfit"/>
                        </a:rPr>
                        <a:t>22.4%</a:t>
                      </a:r>
                    </a:p>
                  </a:txBody>
                  <a:tcPr marL="45720" marR="45720" marT="22860" marB="22860" anchor="ctr">
                    <a:solidFill>
                      <a:srgbClr val="F0E9DF"/>
                    </a:solidFill>
                  </a:tcPr>
                </a:tc>
                <a:tc>
                  <a:txBody>
                    <a:bodyPr wrap="square"/>
                    <a:lstStyle/>
                    <a:p>
                      <a:pPr marL="0" indent="0">
                        <a:spcBef>
                          <a:spcPts val="0"/>
                        </a:spcBef>
                        <a:buNone/>
                      </a:pPr>
                      <a:r>
                        <a:rPr sz="850" b="0">
                          <a:solidFill>
                            <a:srgbClr val="3B312B"/>
                          </a:solidFill>
                          <a:latin typeface="Outfit"/>
                        </a:rPr>
                        <a:t>4.3%</a:t>
                      </a:r>
                    </a:p>
                  </a:txBody>
                  <a:tcPr marL="45720" marR="45720" marT="22860" marB="22860" anchor="ctr">
                    <a:solidFill>
                      <a:srgbClr val="F0E9DF"/>
                    </a:solidFill>
                  </a:tcPr>
                </a:tc>
              </a:tr>
              <a:tr h="256032">
                <a:tc>
                  <a:txBody>
                    <a:bodyPr wrap="square"/>
                    <a:lstStyle/>
                    <a:p>
                      <a:pPr marL="0" indent="0">
                        <a:spcBef>
                          <a:spcPts val="0"/>
                        </a:spcBef>
                        <a:buNone/>
                      </a:pPr>
                      <a:r>
                        <a:rPr sz="850" b="1">
                          <a:solidFill>
                            <a:srgbClr val="3B312B"/>
                          </a:solidFill>
                          <a:latin typeface="Outfit"/>
                        </a:rPr>
                        <a:t>Reach 39.0 °C</a:t>
                      </a:r>
                    </a:p>
                  </a:txBody>
                  <a:tcPr marL="45720" marR="45720" marT="22860" marB="22860" anchor="ctr">
                    <a:solidFill>
                      <a:srgbClr val="FBF8F3"/>
                    </a:solidFill>
                  </a:tcPr>
                </a:tc>
                <a:tc>
                  <a:txBody>
                    <a:bodyPr wrap="square"/>
                    <a:lstStyle/>
                    <a:p>
                      <a:pPr marL="0" indent="0">
                        <a:spcBef>
                          <a:spcPts val="0"/>
                        </a:spcBef>
                        <a:buNone/>
                      </a:pPr>
                      <a:r>
                        <a:rPr sz="850" b="0">
                          <a:solidFill>
                            <a:srgbClr val="3B312B"/>
                          </a:solidFill>
                          <a:latin typeface="Outfit"/>
                        </a:rPr>
                        <a:t>19.0%</a:t>
                      </a:r>
                    </a:p>
                  </a:txBody>
                  <a:tcPr marL="45720" marR="45720" marT="22860" marB="22860" anchor="ctr">
                    <a:solidFill>
                      <a:srgbClr val="FBF8F3"/>
                    </a:solidFill>
                  </a:tcPr>
                </a:tc>
                <a:tc>
                  <a:txBody>
                    <a:bodyPr wrap="square"/>
                    <a:lstStyle/>
                    <a:p>
                      <a:pPr marL="0" indent="0">
                        <a:spcBef>
                          <a:spcPts val="0"/>
                        </a:spcBef>
                        <a:buNone/>
                      </a:pPr>
                      <a:r>
                        <a:rPr sz="850" b="0">
                          <a:solidFill>
                            <a:srgbClr val="3B312B"/>
                          </a:solidFill>
                          <a:latin typeface="Outfit"/>
                        </a:rPr>
                        <a:t>8.4%</a:t>
                      </a:r>
                    </a:p>
                  </a:txBody>
                  <a:tcPr marL="45720" marR="45720" marT="22860" marB="22860" anchor="ctr">
                    <a:solidFill>
                      <a:srgbClr val="FBF8F3"/>
                    </a:solidFill>
                  </a:tcPr>
                </a:tc>
                <a:tc>
                  <a:txBody>
                    <a:bodyPr wrap="square"/>
                    <a:lstStyle/>
                    <a:p>
                      <a:pPr marL="0" indent="0">
                        <a:spcBef>
                          <a:spcPts val="0"/>
                        </a:spcBef>
                        <a:buNone/>
                      </a:pPr>
                      <a:r>
                        <a:rPr sz="850" b="0">
                          <a:solidFill>
                            <a:srgbClr val="3B312B"/>
                          </a:solidFill>
                          <a:latin typeface="Outfit"/>
                        </a:rPr>
                        <a:t>0.7%</a:t>
                      </a:r>
                    </a:p>
                  </a:txBody>
                  <a:tcPr marL="45720" marR="45720" marT="22860" marB="22860" anchor="ctr">
                    <a:solidFill>
                      <a:srgbClr val="FBF8F3"/>
                    </a:solidFill>
                  </a:tcPr>
                </a:tc>
              </a:tr>
              <a:tr h="256032">
                <a:tc>
                  <a:txBody>
                    <a:bodyPr wrap="square"/>
                    <a:lstStyle/>
                    <a:p>
                      <a:pPr marL="0" indent="0">
                        <a:spcBef>
                          <a:spcPts val="0"/>
                        </a:spcBef>
                        <a:buNone/>
                      </a:pPr>
                      <a:r>
                        <a:rPr sz="850" b="1">
                          <a:solidFill>
                            <a:srgbClr val="3B312B"/>
                          </a:solidFill>
                          <a:latin typeface="Outfit"/>
                        </a:rPr>
                        <a:t>Productive hours / shift</a:t>
                      </a:r>
                    </a:p>
                  </a:txBody>
                  <a:tcPr marL="45720" marR="45720" marT="22860" marB="22860" anchor="ctr">
                    <a:solidFill>
                      <a:srgbClr val="F0E9DF"/>
                    </a:solidFill>
                  </a:tcPr>
                </a:tc>
                <a:tc>
                  <a:txBody>
                    <a:bodyPr wrap="square"/>
                    <a:lstStyle/>
                    <a:p>
                      <a:pPr marL="0" indent="0">
                        <a:spcBef>
                          <a:spcPts val="0"/>
                        </a:spcBef>
                        <a:buNone/>
                      </a:pPr>
                      <a:r>
                        <a:rPr sz="850" b="0">
                          <a:solidFill>
                            <a:srgbClr val="3B312B"/>
                          </a:solidFill>
                          <a:latin typeface="Outfit"/>
                        </a:rPr>
                        <a:t>9.2</a:t>
                      </a:r>
                    </a:p>
                  </a:txBody>
                  <a:tcPr marL="45720" marR="45720" marT="22860" marB="22860" anchor="ctr">
                    <a:solidFill>
                      <a:srgbClr val="F0E9DF"/>
                    </a:solidFill>
                  </a:tcPr>
                </a:tc>
                <a:tc>
                  <a:txBody>
                    <a:bodyPr wrap="square"/>
                    <a:lstStyle/>
                    <a:p>
                      <a:pPr marL="0" indent="0">
                        <a:spcBef>
                          <a:spcPts val="0"/>
                        </a:spcBef>
                        <a:buNone/>
                      </a:pPr>
                      <a:r>
                        <a:rPr sz="850" b="0">
                          <a:solidFill>
                            <a:srgbClr val="3B312B"/>
                          </a:solidFill>
                          <a:latin typeface="Outfit"/>
                        </a:rPr>
                        <a:t>6.0</a:t>
                      </a:r>
                    </a:p>
                  </a:txBody>
                  <a:tcPr marL="45720" marR="45720" marT="22860" marB="22860" anchor="ctr">
                    <a:solidFill>
                      <a:srgbClr val="F0E9DF"/>
                    </a:solidFill>
                  </a:tcPr>
                </a:tc>
                <a:tc>
                  <a:txBody>
                    <a:bodyPr wrap="square"/>
                    <a:lstStyle/>
                    <a:p>
                      <a:pPr marL="0" indent="0">
                        <a:spcBef>
                          <a:spcPts val="0"/>
                        </a:spcBef>
                        <a:buNone/>
                      </a:pPr>
                      <a:r>
                        <a:rPr sz="850" b="0">
                          <a:solidFill>
                            <a:srgbClr val="3B312B"/>
                          </a:solidFill>
                          <a:latin typeface="Outfit"/>
                        </a:rPr>
                        <a:t>7.0</a:t>
                      </a:r>
                    </a:p>
                  </a:txBody>
                  <a:tcPr marL="45720" marR="45720" marT="22860" marB="22860" anchor="ctr">
                    <a:solidFill>
                      <a:srgbClr val="F0E9DF"/>
                    </a:solidFill>
                  </a:tcPr>
                </a:tc>
              </a:tr>
              <a:tr h="256032">
                <a:tc>
                  <a:txBody>
                    <a:bodyPr wrap="square"/>
                    <a:lstStyle/>
                    <a:p>
                      <a:pPr marL="0" indent="0">
                        <a:spcBef>
                          <a:spcPts val="0"/>
                        </a:spcBef>
                        <a:buNone/>
                      </a:pPr>
                      <a:r>
                        <a:rPr sz="850" b="1">
                          <a:solidFill>
                            <a:srgbClr val="3B312B"/>
                          </a:solidFill>
                          <a:latin typeface="Outfit"/>
                        </a:rPr>
                        <a:t>Replicate seed, reach 38.5 °C</a:t>
                      </a:r>
                    </a:p>
                  </a:txBody>
                  <a:tcPr marL="45720" marR="45720" marT="22860" marB="22860" anchor="ctr">
                    <a:solidFill>
                      <a:srgbClr val="FBF8F3"/>
                    </a:solidFill>
                  </a:tcPr>
                </a:tc>
                <a:tc>
                  <a:txBody>
                    <a:bodyPr wrap="square"/>
                    <a:lstStyle/>
                    <a:p>
                      <a:pPr marL="0" indent="0">
                        <a:spcBef>
                          <a:spcPts val="0"/>
                        </a:spcBef>
                        <a:buNone/>
                      </a:pPr>
                      <a:r>
                        <a:rPr sz="850" b="0">
                          <a:solidFill>
                            <a:srgbClr val="3B312B"/>
                          </a:solidFill>
                          <a:latin typeface="Outfit"/>
                        </a:rPr>
                        <a:t>37.7%</a:t>
                      </a:r>
                    </a:p>
                  </a:txBody>
                  <a:tcPr marL="45720" marR="45720" marT="22860" marB="22860" anchor="ctr">
                    <a:solidFill>
                      <a:srgbClr val="FBF8F3"/>
                    </a:solidFill>
                  </a:tcPr>
                </a:tc>
                <a:tc>
                  <a:txBody>
                    <a:bodyPr wrap="square"/>
                    <a:lstStyle/>
                    <a:p>
                      <a:pPr marL="0" indent="0">
                        <a:spcBef>
                          <a:spcPts val="0"/>
                        </a:spcBef>
                        <a:buNone/>
                      </a:pPr>
                      <a:r>
                        <a:rPr sz="850" b="0">
                          <a:solidFill>
                            <a:srgbClr val="3B312B"/>
                          </a:solidFill>
                          <a:latin typeface="Outfit"/>
                        </a:rPr>
                        <a:t>23.2%</a:t>
                      </a:r>
                    </a:p>
                  </a:txBody>
                  <a:tcPr marL="45720" marR="45720" marT="22860" marB="22860" anchor="ctr">
                    <a:solidFill>
                      <a:srgbClr val="FBF8F3"/>
                    </a:solidFill>
                  </a:tcPr>
                </a:tc>
                <a:tc>
                  <a:txBody>
                    <a:bodyPr wrap="square"/>
                    <a:lstStyle/>
                    <a:p>
                      <a:pPr marL="0" indent="0">
                        <a:spcBef>
                          <a:spcPts val="0"/>
                        </a:spcBef>
                        <a:buNone/>
                      </a:pPr>
                      <a:r>
                        <a:rPr sz="850" b="0">
                          <a:solidFill>
                            <a:srgbClr val="3B312B"/>
                          </a:solidFill>
                          <a:latin typeface="Outfit"/>
                        </a:rPr>
                        <a:t>3.8%</a:t>
                      </a:r>
                    </a:p>
                  </a:txBody>
                  <a:tcPr marL="45720" marR="45720" marT="22860" marB="22860" anchor="ctr">
                    <a:solidFill>
                      <a:srgbClr val="FBF8F3"/>
                    </a:solidFill>
                  </a:tcPr>
                </a:tc>
              </a:tr>
            </a:tbl>
          </a:graphicData>
        </a:graphic>
      </p:graphicFrame>
      <p:pic>
        <p:nvPicPr>
          <p:cNvPr id="95" name="Picture 94" descr="fig_outcomes.png"/>
          <p:cNvPicPr>
            <a:picLocks noChangeAspect="1"/>
          </p:cNvPicPr>
          <p:nvPr/>
        </p:nvPicPr>
        <p:blipFill>
          <a:blip r:embed="rId5"/>
          <a:stretch>
            <a:fillRect/>
          </a:stretch>
        </p:blipFill>
        <p:spPr>
          <a:xfrm>
            <a:off x="4754880" y="2788920"/>
            <a:ext cx="4114800" cy="1779373"/>
          </a:xfrm>
          <a:prstGeom prst="rect">
            <a:avLst/>
          </a:prstGeom>
        </p:spPr>
      </p:pic>
      <p:sp>
        <p:nvSpPr>
          <p:cNvPr id="96" name="TextBox 95"/>
          <p:cNvSpPr txBox="1"/>
          <p:nvPr/>
        </p:nvSpPr>
        <p:spPr>
          <a:xfrm>
            <a:off x="4754880" y="4526280"/>
            <a:ext cx="4114800" cy="457200"/>
          </a:xfrm>
          <a:prstGeom prst="rect">
            <a:avLst/>
          </a:prstGeom>
          <a:noFill/>
        </p:spPr>
        <p:txBody>
          <a:bodyPr wrap="square" anchor="t" lIns="36576" rIns="36576" tIns="18288" bIns="18288">
            <a:spAutoFit/>
          </a:bodyPr>
          <a:lstStyle/>
          <a:p>
            <a:pPr marL="0" indent="0" algn="l">
              <a:spcBef>
                <a:spcPts val="300"/>
              </a:spcBef>
              <a:buNone/>
            </a:pPr>
            <a:r>
              <a:rPr sz="800" b="0">
                <a:solidFill>
                  <a:srgbClr val="3B312B"/>
                </a:solidFill>
                <a:latin typeface="Outfit"/>
              </a:rPr>
              <a:t>Synthetic validation. 95% CI for HeatGuard: 3.6 to 5.0%. Not human data; real-world effect must be shown in the pilot.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98" name="Google Shape;98;p19"/>
          <p:cNvSpPr txBox="1"/>
          <p:nvPr/>
        </p:nvSpPr>
        <p:spPr>
          <a:xfrm>
            <a:off x="259175" y="861225"/>
            <a:ext cx="86247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Evidence supporting the approach*</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Citations, studies, benchmarks, or prior testing.</a:t>
            </a:r>
            <a:endParaRPr i="1" sz="1000">
              <a:solidFill>
                <a:schemeClr val="dk2"/>
              </a:solidFill>
              <a:latin typeface="Outfit"/>
              <a:ea typeface="Outfit"/>
              <a:cs typeface="Outfit"/>
              <a:sym typeface="Outfit"/>
            </a:endParaRPr>
          </a:p>
        </p:txBody>
      </p:sp>
      <p:pic>
        <p:nvPicPr>
          <p:cNvPr id="99" name="Google Shape;99;p19"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100" name="TextBox 99"/>
          <p:cNvSpPr txBox="1"/>
          <p:nvPr/>
        </p:nvSpPr>
        <p:spPr>
          <a:xfrm>
            <a:off x="320040" y="1371600"/>
            <a:ext cx="434340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Published evidence behind the approach</a:t>
            </a:r>
          </a:p>
          <a:p>
            <a:pPr marL="150000" indent="-150000" algn="l">
              <a:spcBef>
                <a:spcPts val="300"/>
              </a:spcBef>
              <a:buChar char="•"/>
            </a:pPr>
            <a:r>
              <a:rPr sz="880" b="1">
                <a:solidFill>
                  <a:srgbClr val="3B312B"/>
                </a:solidFill>
                <a:latin typeface="Outfit"/>
              </a:rPr>
              <a:t>Heart rate can estimate core temperature with a Kalman filter. </a:t>
            </a:r>
            <a:r>
              <a:rPr sz="880" b="0">
                <a:solidFill>
                  <a:srgbClr val="3B312B"/>
                </a:solidFill>
                <a:latin typeface="Outfit"/>
              </a:rPr>
              <a:t>Buller et al. 2013, Physiological Measurement 34(6):781 (US Army); Falcone, Del Ferraro, Molinaro, Zollo, Lenzuni 2024, Frontiers in Public Health, doi 10.3389/fpubh.2024.1219595 (occupational use).</a:t>
            </a:r>
          </a:p>
          <a:p>
            <a:pPr marL="150000" indent="-150000" algn="l">
              <a:spcBef>
                <a:spcPts val="300"/>
              </a:spcBef>
              <a:buChar char="•"/>
            </a:pPr>
            <a:r>
              <a:rPr sz="880" b="1">
                <a:solidFill>
                  <a:srgbClr val="3B312B"/>
                </a:solidFill>
                <a:latin typeface="Outfit"/>
              </a:rPr>
              <a:t>Heat balance with core and skin nodes. </a:t>
            </a:r>
            <a:r>
              <a:rPr sz="880" b="0">
                <a:solidFill>
                  <a:srgbClr val="3B312B"/>
                </a:solidFill>
                <a:latin typeface="Outfit"/>
              </a:rPr>
              <a:t>Gagge et al. 1971, ASHRAE Transactions 77 (two-node model); respiratory heat-loss terms as in ISO 7933 style heat-strain models.</a:t>
            </a:r>
          </a:p>
          <a:p>
            <a:pPr marL="150000" indent="-150000" algn="l">
              <a:spcBef>
                <a:spcPts val="300"/>
              </a:spcBef>
              <a:buChar char="•"/>
            </a:pPr>
            <a:r>
              <a:rPr sz="880" b="1">
                <a:solidFill>
                  <a:srgbClr val="3B312B"/>
                </a:solidFill>
                <a:latin typeface="Outfit"/>
              </a:rPr>
              <a:t>Occupational limits. </a:t>
            </a:r>
            <a:r>
              <a:rPr sz="880" b="0">
                <a:solidFill>
                  <a:srgbClr val="3B312B"/>
                </a:solidFill>
                <a:latin typeface="Outfit"/>
              </a:rPr>
              <a:t>Core temperature of about 38.0 to 38.5 °C is commonly used as an upper guideline (NIOSH Criteria for a Recommended Standard, 2016; ISO 9886).</a:t>
            </a:r>
          </a:p>
          <a:p>
            <a:pPr marL="150000" indent="-150000" algn="l">
              <a:spcBef>
                <a:spcPts val="300"/>
              </a:spcBef>
              <a:buChar char="•"/>
            </a:pPr>
            <a:r>
              <a:rPr sz="880" b="1">
                <a:solidFill>
                  <a:srgbClr val="3B312B"/>
                </a:solidFill>
                <a:latin typeface="Outfit"/>
              </a:rPr>
              <a:t>Scale of the problem. </a:t>
            </a:r>
            <a:r>
              <a:rPr sz="880" b="0">
                <a:solidFill>
                  <a:srgbClr val="3B312B"/>
                </a:solidFill>
                <a:latin typeface="Outfit"/>
              </a:rPr>
              <a:t>ILO, Working on a warmer planet, 2019: 2.2% of working hours and 80 million full-time jobs at risk by 2030.</a:t>
            </a:r>
          </a:p>
          <a:p>
            <a:pPr marL="150000" indent="-150000" algn="l">
              <a:spcBef>
                <a:spcPts val="300"/>
              </a:spcBef>
              <a:buChar char="•"/>
            </a:pPr>
            <a:r>
              <a:rPr sz="880" b="1">
                <a:solidFill>
                  <a:srgbClr val="3B312B"/>
                </a:solidFill>
                <a:latin typeface="Outfit"/>
              </a:rPr>
              <a:t>Existing rule. </a:t>
            </a:r>
            <a:r>
              <a:rPr sz="880" b="0">
                <a:solidFill>
                  <a:srgbClr val="3B312B"/>
                </a:solidFill>
                <a:latin typeface="Outfit"/>
              </a:rPr>
              <a:t>UAE midday break, 12:30 to 15:00, 15 June to 15 September, fines up to Dh50,000 (Gulf News, June 2025).</a:t>
            </a:r>
          </a:p>
        </p:txBody>
      </p:sp>
      <p:sp>
        <p:nvSpPr>
          <p:cNvPr id="101" name="TextBox 100"/>
          <p:cNvSpPr txBox="1"/>
          <p:nvPr/>
        </p:nvSpPr>
        <p:spPr>
          <a:xfrm>
            <a:off x="4846320" y="1371600"/>
            <a:ext cx="402336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Our own testing (synthetic, reproducible)</a:t>
            </a:r>
          </a:p>
          <a:p>
            <a:pPr marL="150000" indent="-150000" algn="l">
              <a:spcBef>
                <a:spcPts val="300"/>
              </a:spcBef>
              <a:buChar char="•"/>
            </a:pPr>
            <a:r>
              <a:rPr sz="880" b="1">
                <a:solidFill>
                  <a:srgbClr val="3B312B"/>
                </a:solidFill>
                <a:latin typeface="Outfit"/>
              </a:rPr>
              <a:t>Estimator: </a:t>
            </a:r>
            <a:r>
              <a:rPr sz="880" b="0">
                <a:solidFill>
                  <a:srgbClr val="3B312B"/>
                </a:solidFill>
                <a:latin typeface="Outfit"/>
              </a:rPr>
              <a:t>RMSE 0.43 °C over 3,000 workers; heart-rate correction cuts RMSE from 0.54 (model only) to 0.43 °C.</a:t>
            </a:r>
          </a:p>
          <a:p>
            <a:pPr marL="150000" indent="-150000" algn="l">
              <a:spcBef>
                <a:spcPts val="300"/>
              </a:spcBef>
              <a:buChar char="•"/>
            </a:pPr>
            <a:r>
              <a:rPr sz="880" b="1">
                <a:solidFill>
                  <a:srgbClr val="3B312B"/>
                </a:solidFill>
                <a:latin typeface="Outfit"/>
              </a:rPr>
              <a:t>Early warning: </a:t>
            </a:r>
            <a:r>
              <a:rPr sz="880" b="0">
                <a:solidFill>
                  <a:srgbClr val="3B312B"/>
                </a:solidFill>
                <a:latin typeface="Outfit"/>
              </a:rPr>
              <a:t>82% of 38.5 °C events warned 10+ min ahead; median lead 63 min.</a:t>
            </a:r>
          </a:p>
          <a:p>
            <a:pPr marL="150000" indent="-150000" algn="l">
              <a:spcBef>
                <a:spcPts val="300"/>
              </a:spcBef>
              <a:buChar char="•"/>
            </a:pPr>
            <a:r>
              <a:rPr sz="880" b="1">
                <a:solidFill>
                  <a:srgbClr val="3B312B"/>
                </a:solidFill>
                <a:latin typeface="Outfit"/>
              </a:rPr>
              <a:t>Robustness: </a:t>
            </a:r>
            <a:r>
              <a:rPr sz="880" b="0">
                <a:solidFill>
                  <a:srgbClr val="3B312B"/>
                </a:solidFill>
                <a:latin typeface="Outfit"/>
              </a:rPr>
              <a:t>heart-rate sensitivity prior wrong by ±30% moves RMSE only to 0.45 / 0.44 °C; 4% sensor dropouts and 1.5% motion outliers included.</a:t>
            </a:r>
          </a:p>
          <a:p>
            <a:pPr marL="150000" indent="-150000" algn="l">
              <a:spcBef>
                <a:spcPts val="300"/>
              </a:spcBef>
              <a:buChar char="•"/>
            </a:pPr>
            <a:r>
              <a:rPr sz="880" b="1">
                <a:solidFill>
                  <a:srgbClr val="3B312B"/>
                </a:solidFill>
                <a:latin typeface="Outfit"/>
              </a:rPr>
              <a:t>Fairness: </a:t>
            </a:r>
            <a:r>
              <a:rPr sz="880" b="0">
                <a:solidFill>
                  <a:srgbClr val="3B312B"/>
                </a:solidFill>
                <a:latin typeface="Outfit"/>
              </a:rPr>
              <a:t>RMSE 0.40 to 0.44 °C across age and BMI bands; new arrivals 3.9% vs 4.5% for acclimatized workers reach 38.5 °C.</a:t>
            </a:r>
          </a:p>
          <a:p>
            <a:pPr marL="0" indent="0" algn="l">
              <a:spcBef>
                <a:spcPts val="600"/>
              </a:spcBef>
              <a:buNone/>
            </a:pPr>
            <a:r>
              <a:rPr sz="1050" b="1">
                <a:solidFill>
                  <a:srgbClr val="7A6656"/>
                </a:solidFill>
                <a:latin typeface="Outfit"/>
              </a:rPr>
              <a:t>Limitation we state openly</a:t>
            </a:r>
          </a:p>
          <a:p>
            <a:pPr marL="150000" indent="-150000" algn="l">
              <a:spcBef>
                <a:spcPts val="300"/>
              </a:spcBef>
              <a:buChar char="•"/>
            </a:pPr>
            <a:r>
              <a:rPr sz="880" b="0">
                <a:solidFill>
                  <a:srgbClr val="3B312B"/>
                </a:solidFill>
                <a:latin typeface="Outfit"/>
              </a:rPr>
              <a:t>All numbers above come from a simulator built from published physiology, not from people. The simulator and estimator share a physics family, so absolute accuracy in the field will be lower. Calibration against ingestible-pill data is the first pilot task.</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0"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105" name="Google Shape;105;p20"/>
          <p:cNvSpPr txBox="1"/>
          <p:nvPr/>
        </p:nvSpPr>
        <p:spPr>
          <a:xfrm>
            <a:off x="259175" y="861225"/>
            <a:ext cx="85908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Data sources and legal right to use them*</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List source, type, owner, sensitivity, permissions, and whether personal data is used.</a:t>
            </a:r>
            <a:endParaRPr i="1" sz="1000">
              <a:solidFill>
                <a:schemeClr val="dk2"/>
              </a:solidFill>
              <a:latin typeface="Outfit"/>
              <a:ea typeface="Outfit"/>
              <a:cs typeface="Outfit"/>
              <a:sym typeface="Outfit"/>
            </a:endParaRPr>
          </a:p>
        </p:txBody>
      </p:sp>
      <p:pic>
        <p:nvPicPr>
          <p:cNvPr id="106" name="Google Shape;106;p20"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graphicFrame>
        <p:nvGraphicFramePr>
          <p:cNvPr id="107" name="Table 106"/>
          <p:cNvGraphicFramePr>
            <a:graphicFrameLocks noGrp="1"/>
          </p:cNvGraphicFramePr>
          <p:nvPr/>
        </p:nvGraphicFramePr>
        <p:xfrm>
          <a:off x="274320" y="1371600"/>
          <a:ext cx="8595360" cy="2852928"/>
        </p:xfrm>
        <a:graphic>
          <a:graphicData uri="http://schemas.openxmlformats.org/drawingml/2006/table">
            <a:tbl>
              <a:tblPr firstRow="0" bandRow="0">
                <a:tableStyleId>{2D5ABB26-0587-4C30-8999-92F81FD0307C}</a:tableStyleId>
              </a:tblPr>
              <a:tblGrid>
                <a:gridCol w="1554480"/>
                <a:gridCol w="1554480"/>
                <a:gridCol w="1280160"/>
                <a:gridCol w="914400"/>
                <a:gridCol w="2286000"/>
                <a:gridCol w="1005840"/>
              </a:tblGrid>
              <a:tr h="475488">
                <a:tc>
                  <a:txBody>
                    <a:bodyPr wrap="square"/>
                    <a:lstStyle/>
                    <a:p>
                      <a:pPr marL="0" indent="0">
                        <a:spcBef>
                          <a:spcPts val="0"/>
                        </a:spcBef>
                        <a:buNone/>
                      </a:pPr>
                      <a:r>
                        <a:rPr sz="780" b="1">
                          <a:solidFill>
                            <a:srgbClr val="FFFFFF"/>
                          </a:solidFill>
                          <a:latin typeface="Outfit"/>
                        </a:rPr>
                        <a:t>Source</a:t>
                      </a:r>
                    </a:p>
                  </a:txBody>
                  <a:tcPr marL="45720" marR="45720" marT="22860" marB="22860" anchor="ctr">
                    <a:solidFill>
                      <a:srgbClr val="7A6656"/>
                    </a:solidFill>
                  </a:tcPr>
                </a:tc>
                <a:tc>
                  <a:txBody>
                    <a:bodyPr wrap="square"/>
                    <a:lstStyle/>
                    <a:p>
                      <a:pPr marL="0" indent="0">
                        <a:spcBef>
                          <a:spcPts val="0"/>
                        </a:spcBef>
                        <a:buNone/>
                      </a:pPr>
                      <a:r>
                        <a:rPr sz="780" b="1">
                          <a:solidFill>
                            <a:srgbClr val="FFFFFF"/>
                          </a:solidFill>
                          <a:latin typeface="Outfit"/>
                        </a:rPr>
                        <a:t>Type</a:t>
                      </a:r>
                    </a:p>
                  </a:txBody>
                  <a:tcPr marL="45720" marR="45720" marT="22860" marB="22860" anchor="ctr">
                    <a:solidFill>
                      <a:srgbClr val="7A6656"/>
                    </a:solidFill>
                  </a:tcPr>
                </a:tc>
                <a:tc>
                  <a:txBody>
                    <a:bodyPr wrap="square"/>
                    <a:lstStyle/>
                    <a:p>
                      <a:pPr marL="0" indent="0">
                        <a:spcBef>
                          <a:spcPts val="0"/>
                        </a:spcBef>
                        <a:buNone/>
                      </a:pPr>
                      <a:r>
                        <a:rPr sz="780" b="1">
                          <a:solidFill>
                            <a:srgbClr val="FFFFFF"/>
                          </a:solidFill>
                          <a:latin typeface="Outfit"/>
                        </a:rPr>
                        <a:t>Owner</a:t>
                      </a:r>
                    </a:p>
                  </a:txBody>
                  <a:tcPr marL="45720" marR="45720" marT="22860" marB="22860" anchor="ctr">
                    <a:solidFill>
                      <a:srgbClr val="7A6656"/>
                    </a:solidFill>
                  </a:tcPr>
                </a:tc>
                <a:tc>
                  <a:txBody>
                    <a:bodyPr wrap="square"/>
                    <a:lstStyle/>
                    <a:p>
                      <a:pPr marL="0" indent="0">
                        <a:spcBef>
                          <a:spcPts val="0"/>
                        </a:spcBef>
                        <a:buNone/>
                      </a:pPr>
                      <a:r>
                        <a:rPr sz="780" b="1">
                          <a:solidFill>
                            <a:srgbClr val="FFFFFF"/>
                          </a:solidFill>
                          <a:latin typeface="Outfit"/>
                        </a:rPr>
                        <a:t>Sensitivity</a:t>
                      </a:r>
                    </a:p>
                  </a:txBody>
                  <a:tcPr marL="45720" marR="45720" marT="22860" marB="22860" anchor="ctr">
                    <a:solidFill>
                      <a:srgbClr val="7A6656"/>
                    </a:solidFill>
                  </a:tcPr>
                </a:tc>
                <a:tc>
                  <a:txBody>
                    <a:bodyPr wrap="square"/>
                    <a:lstStyle/>
                    <a:p>
                      <a:pPr marL="0" indent="0">
                        <a:spcBef>
                          <a:spcPts val="0"/>
                        </a:spcBef>
                        <a:buNone/>
                      </a:pPr>
                      <a:r>
                        <a:rPr sz="780" b="1">
                          <a:solidFill>
                            <a:srgbClr val="FFFFFF"/>
                          </a:solidFill>
                          <a:latin typeface="Outfit"/>
                        </a:rPr>
                        <a:t>Permission / legal basis</a:t>
                      </a:r>
                    </a:p>
                  </a:txBody>
                  <a:tcPr marL="45720" marR="45720" marT="22860" marB="22860" anchor="ctr">
                    <a:solidFill>
                      <a:srgbClr val="7A6656"/>
                    </a:solidFill>
                  </a:tcPr>
                </a:tc>
                <a:tc>
                  <a:txBody>
                    <a:bodyPr wrap="square"/>
                    <a:lstStyle/>
                    <a:p>
                      <a:pPr marL="0" indent="0">
                        <a:spcBef>
                          <a:spcPts val="0"/>
                        </a:spcBef>
                        <a:buNone/>
                      </a:pPr>
                      <a:r>
                        <a:rPr sz="780" b="1">
                          <a:solidFill>
                            <a:srgbClr val="FFFFFF"/>
                          </a:solidFill>
                          <a:latin typeface="Outfit"/>
                        </a:rPr>
                        <a:t>Personal data?</a:t>
                      </a:r>
                    </a:p>
                  </a:txBody>
                  <a:tcPr marL="45720" marR="45720" marT="22860" marB="22860" anchor="ctr">
                    <a:solidFill>
                      <a:srgbClr val="7A6656"/>
                    </a:solidFill>
                  </a:tcPr>
                </a:tc>
              </a:tr>
              <a:tr h="475488">
                <a:tc>
                  <a:txBody>
                    <a:bodyPr wrap="square"/>
                    <a:lstStyle/>
                    <a:p>
                      <a:pPr marL="0" indent="0">
                        <a:spcBef>
                          <a:spcPts val="0"/>
                        </a:spcBef>
                        <a:buNone/>
                      </a:pPr>
                      <a:r>
                        <a:rPr sz="780" b="1">
                          <a:solidFill>
                            <a:srgbClr val="3B312B"/>
                          </a:solidFill>
                          <a:latin typeface="Outfit"/>
                        </a:rPr>
                        <a:t>Synthetic worker-shifts (6,000 + demo)</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Simulated physiology, weather, sensors</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Applicant (generated by own code)</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None</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Own work, no third-party rights</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No</a:t>
                      </a:r>
                    </a:p>
                  </a:txBody>
                  <a:tcPr marL="45720" marR="45720" marT="22860" marB="22860" anchor="ctr">
                    <a:solidFill>
                      <a:srgbClr val="F0E9DF"/>
                    </a:solidFill>
                  </a:tcPr>
                </a:tc>
              </a:tr>
              <a:tr h="475488">
                <a:tc>
                  <a:txBody>
                    <a:bodyPr wrap="square"/>
                    <a:lstStyle/>
                    <a:p>
                      <a:pPr marL="0" indent="0">
                        <a:spcBef>
                          <a:spcPts val="0"/>
                        </a:spcBef>
                        <a:buNone/>
                      </a:pPr>
                      <a:r>
                        <a:rPr sz="780" b="1">
                          <a:solidFill>
                            <a:srgbClr val="3B312B"/>
                          </a:solidFill>
                          <a:latin typeface="Outfit"/>
                        </a:rPr>
                        <a:t>Published equations and parameters</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Literature (Gagge, Stull, Tetens, DuBois, ISO-style terms)</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Public domain / cited authors</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None</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Citation of published science, no data copied</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No</a:t>
                      </a:r>
                    </a:p>
                  </a:txBody>
                  <a:tcPr marL="45720" marR="45720" marT="22860" marB="22860" anchor="ctr">
                    <a:solidFill>
                      <a:srgbClr val="FBF8F3"/>
                    </a:solidFill>
                  </a:tcPr>
                </a:tc>
              </a:tr>
              <a:tr h="475488">
                <a:tc>
                  <a:txBody>
                    <a:bodyPr wrap="square"/>
                    <a:lstStyle/>
                    <a:p>
                      <a:pPr marL="0" indent="0">
                        <a:spcBef>
                          <a:spcPts val="0"/>
                        </a:spcBef>
                        <a:buNone/>
                      </a:pPr>
                      <a:r>
                        <a:rPr sz="780" b="1">
                          <a:solidFill>
                            <a:srgbClr val="3B312B"/>
                          </a:solidFill>
                          <a:latin typeface="Outfit"/>
                        </a:rPr>
                        <a:t>Weather (pilot)</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Site sensor or public weather service</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Site operator / provider</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Low</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Provider terms; site agreement</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No</a:t>
                      </a:r>
                    </a:p>
                  </a:txBody>
                  <a:tcPr marL="45720" marR="45720" marT="22860" marB="22860" anchor="ctr">
                    <a:solidFill>
                      <a:srgbClr val="F0E9DF"/>
                    </a:solidFill>
                  </a:tcPr>
                </a:tc>
              </a:tr>
              <a:tr h="475488">
                <a:tc>
                  <a:txBody>
                    <a:bodyPr wrap="square"/>
                    <a:lstStyle/>
                    <a:p>
                      <a:pPr marL="0" indent="0">
                        <a:spcBef>
                          <a:spcPts val="0"/>
                        </a:spcBef>
                        <a:buNone/>
                      </a:pPr>
                      <a:r>
                        <a:rPr sz="780" b="1">
                          <a:solidFill>
                            <a:srgbClr val="3B312B"/>
                          </a:solidFill>
                          <a:latin typeface="Outfit"/>
                        </a:rPr>
                        <a:t>Wearable heart rate (pilot)</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Time series, 1 per minute</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The worker</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High (health data)</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Explicit informed consent, revocable; UAE PDPL (Federal Decree-Law 45/2021) and Abu Dhabi health-data rules to be confirmed with the regulator</a:t>
                      </a:r>
                    </a:p>
                  </a:txBody>
                  <a:tcPr marL="45720" marR="45720" marT="22860" marB="22860" anchor="ctr">
                    <a:solidFill>
                      <a:srgbClr val="FBF8F3"/>
                    </a:solidFill>
                  </a:tcPr>
                </a:tc>
                <a:tc>
                  <a:txBody>
                    <a:bodyPr wrap="square"/>
                    <a:lstStyle/>
                    <a:p>
                      <a:pPr marL="0" indent="0">
                        <a:spcBef>
                          <a:spcPts val="0"/>
                        </a:spcBef>
                        <a:buNone/>
                      </a:pPr>
                      <a:r>
                        <a:rPr sz="780" b="0">
                          <a:solidFill>
                            <a:srgbClr val="3B312B"/>
                          </a:solidFill>
                          <a:latin typeface="Outfit"/>
                        </a:rPr>
                        <a:t>Yes, pseudonymised ID</a:t>
                      </a:r>
                    </a:p>
                  </a:txBody>
                  <a:tcPr marL="45720" marR="45720" marT="22860" marB="22860" anchor="ctr">
                    <a:solidFill>
                      <a:srgbClr val="FBF8F3"/>
                    </a:solidFill>
                  </a:tcPr>
                </a:tc>
              </a:tr>
              <a:tr h="475488">
                <a:tc>
                  <a:txBody>
                    <a:bodyPr wrap="square"/>
                    <a:lstStyle/>
                    <a:p>
                      <a:pPr marL="0" indent="0">
                        <a:spcBef>
                          <a:spcPts val="0"/>
                        </a:spcBef>
                        <a:buNone/>
                      </a:pPr>
                      <a:r>
                        <a:rPr sz="780" b="1">
                          <a:solidFill>
                            <a:srgbClr val="3B312B"/>
                          </a:solidFill>
                          <a:latin typeface="Outfit"/>
                        </a:rPr>
                        <a:t>Reference core temperature (calibration study)</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Ingestible pill or validated sensor</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Study participants</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High</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Ethics approval and consent before any collection</a:t>
                      </a:r>
                    </a:p>
                  </a:txBody>
                  <a:tcPr marL="45720" marR="45720" marT="22860" marB="22860" anchor="ctr">
                    <a:solidFill>
                      <a:srgbClr val="F0E9DF"/>
                    </a:solidFill>
                  </a:tcPr>
                </a:tc>
                <a:tc>
                  <a:txBody>
                    <a:bodyPr wrap="square"/>
                    <a:lstStyle/>
                    <a:p>
                      <a:pPr marL="0" indent="0">
                        <a:spcBef>
                          <a:spcPts val="0"/>
                        </a:spcBef>
                        <a:buNone/>
                      </a:pPr>
                      <a:r>
                        <a:rPr sz="780" b="0">
                          <a:solidFill>
                            <a:srgbClr val="3B312B"/>
                          </a:solidFill>
                          <a:latin typeface="Outfit"/>
                        </a:rPr>
                        <a:t>Yes, study only</a:t>
                      </a:r>
                    </a:p>
                  </a:txBody>
                  <a:tcPr marL="45720" marR="45720" marT="22860" marB="22860" anchor="ctr">
                    <a:solidFill>
                      <a:srgbClr val="F0E9DF"/>
                    </a:solidFill>
                  </a:tcPr>
                </a:tc>
              </a:tr>
            </a:tbl>
          </a:graphicData>
        </a:graphic>
      </p:graphicFrame>
      <p:sp>
        <p:nvSpPr>
          <p:cNvPr id="108" name="TextBox 107"/>
          <p:cNvSpPr txBox="1"/>
          <p:nvPr/>
        </p:nvSpPr>
        <p:spPr>
          <a:xfrm>
            <a:off x="274320" y="4434840"/>
            <a:ext cx="8595360" cy="502920"/>
          </a:xfrm>
          <a:prstGeom prst="rect">
            <a:avLst/>
          </a:prstGeom>
          <a:noFill/>
        </p:spPr>
        <p:txBody>
          <a:bodyPr wrap="square" anchor="t" lIns="36576" rIns="36576" tIns="18288" bIns="18288">
            <a:spAutoFit/>
          </a:bodyPr>
          <a:lstStyle/>
          <a:p>
            <a:pPr marL="0" indent="0" algn="l">
              <a:spcBef>
                <a:spcPts val="300"/>
              </a:spcBef>
              <a:buNone/>
            </a:pPr>
            <a:r>
              <a:rPr sz="880" b="1">
                <a:solidFill>
                  <a:srgbClr val="7A6656"/>
                </a:solidFill>
                <a:latin typeface="Outfit"/>
              </a:rPr>
              <a:t>No personal data was used in this submission. </a:t>
            </a:r>
            <a:r>
              <a:rPr sz="880" b="0">
                <a:solidFill>
                  <a:srgbClr val="3B312B"/>
                </a:solidFill>
                <a:latin typeface="Outfit"/>
              </a:rPr>
              <a:t>Everything shown is synthetic. In a pilot, raw heart rate stays on the worker's phone or in a worker-keyed store; employers receive only the tier; authorities receive aggregates with a minimum group size of 5.</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1"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112" name="Google Shape;112;p21"/>
          <p:cNvSpPr txBox="1"/>
          <p:nvPr/>
        </p:nvSpPr>
        <p:spPr>
          <a:xfrm>
            <a:off x="259175" y="861225"/>
            <a:ext cx="86844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Risks and safeguards*</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Privacy; security; bias; explainability; misuse; human oversight; failure modes.</a:t>
            </a:r>
            <a:endParaRPr i="1" sz="1000">
              <a:solidFill>
                <a:schemeClr val="dk2"/>
              </a:solidFill>
              <a:latin typeface="Outfit"/>
              <a:ea typeface="Outfit"/>
              <a:cs typeface="Outfit"/>
              <a:sym typeface="Outfit"/>
            </a:endParaRPr>
          </a:p>
        </p:txBody>
      </p:sp>
      <p:pic>
        <p:nvPicPr>
          <p:cNvPr id="113" name="Google Shape;113;p21"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graphicFrame>
        <p:nvGraphicFramePr>
          <p:cNvPr id="114" name="Table 113"/>
          <p:cNvGraphicFramePr>
            <a:graphicFrameLocks noGrp="1"/>
          </p:cNvGraphicFramePr>
          <p:nvPr/>
        </p:nvGraphicFramePr>
        <p:xfrm>
          <a:off x="274320" y="1371600"/>
          <a:ext cx="8595360" cy="3218688"/>
        </p:xfrm>
        <a:graphic>
          <a:graphicData uri="http://schemas.openxmlformats.org/drawingml/2006/table">
            <a:tbl>
              <a:tblPr firstRow="0" bandRow="0">
                <a:tableStyleId>{2D5ABB26-0587-4C30-8999-92F81FD0307C}</a:tableStyleId>
              </a:tblPr>
              <a:tblGrid>
                <a:gridCol w="1005840"/>
                <a:gridCol w="2194560"/>
                <a:gridCol w="5394960"/>
              </a:tblGrid>
              <a:tr h="402336">
                <a:tc>
                  <a:txBody>
                    <a:bodyPr wrap="square"/>
                    <a:lstStyle/>
                    <a:p>
                      <a:pPr marL="0" indent="0">
                        <a:spcBef>
                          <a:spcPts val="0"/>
                        </a:spcBef>
                        <a:buNone/>
                      </a:pPr>
                      <a:r>
                        <a:rPr sz="800" b="1">
                          <a:solidFill>
                            <a:srgbClr val="FFFFFF"/>
                          </a:solidFill>
                          <a:latin typeface="Outfit"/>
                        </a:rPr>
                        <a:t>Risk</a:t>
                      </a:r>
                    </a:p>
                  </a:txBody>
                  <a:tcPr marL="45720" marR="45720" marT="22860" marB="22860" anchor="ctr">
                    <a:solidFill>
                      <a:srgbClr val="7A6656"/>
                    </a:solidFill>
                  </a:tcPr>
                </a:tc>
                <a:tc>
                  <a:txBody>
                    <a:bodyPr wrap="square"/>
                    <a:lstStyle/>
                    <a:p>
                      <a:pPr marL="0" indent="0">
                        <a:spcBef>
                          <a:spcPts val="0"/>
                        </a:spcBef>
                        <a:buNone/>
                      </a:pPr>
                      <a:r>
                        <a:rPr sz="800" b="1">
                          <a:solidFill>
                            <a:srgbClr val="FFFFFF"/>
                          </a:solidFill>
                          <a:latin typeface="Outfit"/>
                        </a:rPr>
                        <a:t>What could go wrong</a:t>
                      </a:r>
                    </a:p>
                  </a:txBody>
                  <a:tcPr marL="45720" marR="45720" marT="22860" marB="22860" anchor="ctr">
                    <a:solidFill>
                      <a:srgbClr val="7A6656"/>
                    </a:solidFill>
                  </a:tcPr>
                </a:tc>
                <a:tc>
                  <a:txBody>
                    <a:bodyPr wrap="square"/>
                    <a:lstStyle/>
                    <a:p>
                      <a:pPr marL="0" indent="0">
                        <a:spcBef>
                          <a:spcPts val="0"/>
                        </a:spcBef>
                        <a:buNone/>
                      </a:pPr>
                      <a:r>
                        <a:rPr sz="800" b="1">
                          <a:solidFill>
                            <a:srgbClr val="FFFFFF"/>
                          </a:solidFill>
                          <a:latin typeface="Outfit"/>
                        </a:rPr>
                        <a:t>Safeguard in the design</a:t>
                      </a:r>
                    </a:p>
                  </a:txBody>
                  <a:tcPr marL="45720" marR="45720" marT="22860" marB="22860" anchor="ctr">
                    <a:solidFill>
                      <a:srgbClr val="7A6656"/>
                    </a:solidFill>
                  </a:tcPr>
                </a:tc>
              </a:tr>
              <a:tr h="402336">
                <a:tc>
                  <a:txBody>
                    <a:bodyPr wrap="square"/>
                    <a:lstStyle/>
                    <a:p>
                      <a:pPr marL="0" indent="0">
                        <a:spcBef>
                          <a:spcPts val="0"/>
                        </a:spcBef>
                        <a:buNone/>
                      </a:pPr>
                      <a:r>
                        <a:rPr sz="800" b="1">
                          <a:solidFill>
                            <a:srgbClr val="3B312B"/>
                          </a:solidFill>
                          <a:latin typeface="Outfit"/>
                        </a:rPr>
                        <a:t>Privacy</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Heart rate and heat history reveal health</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Consent, minimisation, worker-owned data, supervisor sees tier only (tested), k ≥ 5 aggregates</a:t>
                      </a:r>
                    </a:p>
                  </a:txBody>
                  <a:tcPr marL="45720" marR="45720" marT="22860" marB="22860" anchor="ctr">
                    <a:solidFill>
                      <a:srgbClr val="F0E9DF"/>
                    </a:solidFill>
                  </a:tcPr>
                </a:tc>
              </a:tr>
              <a:tr h="402336">
                <a:tc>
                  <a:txBody>
                    <a:bodyPr wrap="square"/>
                    <a:lstStyle/>
                    <a:p>
                      <a:pPr marL="0" indent="0">
                        <a:spcBef>
                          <a:spcPts val="0"/>
                        </a:spcBef>
                        <a:buNone/>
                      </a:pPr>
                      <a:r>
                        <a:rPr sz="800" b="1">
                          <a:solidFill>
                            <a:srgbClr val="3B312B"/>
                          </a:solidFill>
                          <a:latin typeface="Outfit"/>
                        </a:rPr>
                        <a:t>Security</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Leak of health-linked data</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Pseudonymous IDs, encryption in transit and at rest, role-based access, audit log, UAE-resident hosting (pilot)</a:t>
                      </a:r>
                    </a:p>
                  </a:txBody>
                  <a:tcPr marL="45720" marR="45720" marT="22860" marB="22860" anchor="ctr">
                    <a:solidFill>
                      <a:srgbClr val="FBF8F3"/>
                    </a:solidFill>
                  </a:tcPr>
                </a:tc>
              </a:tr>
              <a:tr h="402336">
                <a:tc>
                  <a:txBody>
                    <a:bodyPr wrap="square"/>
                    <a:lstStyle/>
                    <a:p>
                      <a:pPr marL="0" indent="0">
                        <a:spcBef>
                          <a:spcPts val="0"/>
                        </a:spcBef>
                        <a:buNone/>
                      </a:pPr>
                      <a:r>
                        <a:rPr sz="800" b="1">
                          <a:solidFill>
                            <a:srgbClr val="3B312B"/>
                          </a:solidFill>
                          <a:latin typeface="Outfit"/>
                        </a:rPr>
                        <a:t>Bias</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Model less accurate for some bodies or groups</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Fairness table by acclimatization, age, BMI, language; recalibrate per group in pilot</a:t>
                      </a:r>
                    </a:p>
                  </a:txBody>
                  <a:tcPr marL="45720" marR="45720" marT="22860" marB="22860" anchor="ctr">
                    <a:solidFill>
                      <a:srgbClr val="F0E9DF"/>
                    </a:solidFill>
                  </a:tcPr>
                </a:tc>
              </a:tr>
              <a:tr h="402336">
                <a:tc>
                  <a:txBody>
                    <a:bodyPr wrap="square"/>
                    <a:lstStyle/>
                    <a:p>
                      <a:pPr marL="0" indent="0">
                        <a:spcBef>
                          <a:spcPts val="0"/>
                        </a:spcBef>
                        <a:buNone/>
                      </a:pPr>
                      <a:r>
                        <a:rPr sz="800" b="1">
                          <a:solidFill>
                            <a:srgbClr val="3B312B"/>
                          </a:solidFill>
                          <a:latin typeface="Outfit"/>
                        </a:rPr>
                        <a:t>Explainability</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Black-box alerts are ignored</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Physics model plus Kalman filter; every alert shows estimate, 30-min forecast and reason</a:t>
                      </a:r>
                    </a:p>
                  </a:txBody>
                  <a:tcPr marL="45720" marR="45720" marT="22860" marB="22860" anchor="ctr">
                    <a:solidFill>
                      <a:srgbClr val="FBF8F3"/>
                    </a:solidFill>
                  </a:tcPr>
                </a:tc>
              </a:tr>
              <a:tr h="402336">
                <a:tc>
                  <a:txBody>
                    <a:bodyPr wrap="square"/>
                    <a:lstStyle/>
                    <a:p>
                      <a:pPr marL="0" indent="0">
                        <a:spcBef>
                          <a:spcPts val="0"/>
                        </a:spcBef>
                        <a:buNone/>
                      </a:pPr>
                      <a:r>
                        <a:rPr sz="800" b="1">
                          <a:solidFill>
                            <a:srgbClr val="3B312B"/>
                          </a:solidFill>
                          <a:latin typeface="Outfit"/>
                        </a:rPr>
                        <a:t>Misuse</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Employer uses data to penalise slower new workers</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Tier-only employer view; contract bans use for pay, hiring or dismissal; newcomer protection (they lose most work time: 5.8 h vs 7.6 h) is flagged to regulators</a:t>
                      </a:r>
                    </a:p>
                  </a:txBody>
                  <a:tcPr marL="45720" marR="45720" marT="22860" marB="22860" anchor="ctr">
                    <a:solidFill>
                      <a:srgbClr val="F0E9DF"/>
                    </a:solidFill>
                  </a:tcPr>
                </a:tc>
              </a:tr>
              <a:tr h="402336">
                <a:tc>
                  <a:txBody>
                    <a:bodyPr wrap="square"/>
                    <a:lstStyle/>
                    <a:p>
                      <a:pPr marL="0" indent="0">
                        <a:spcBef>
                          <a:spcPts val="0"/>
                        </a:spcBef>
                        <a:buNone/>
                      </a:pPr>
                      <a:r>
                        <a:rPr sz="800" b="1">
                          <a:solidFill>
                            <a:srgbClr val="3B312B"/>
                          </a:solidFill>
                          <a:latin typeface="Outfit"/>
                        </a:rPr>
                        <a:t>Human oversight</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Automation replaces judgement</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RED always notifies a human first-aider; emergency signs (confusion, no sweating, collapse) override the model</a:t>
                      </a:r>
                    </a:p>
                  </a:txBody>
                  <a:tcPr marL="45720" marR="45720" marT="22860" marB="22860" anchor="ctr">
                    <a:solidFill>
                      <a:srgbClr val="FBF8F3"/>
                    </a:solidFill>
                  </a:tcPr>
                </a:tc>
              </a:tr>
              <a:tr h="402336">
                <a:tc>
                  <a:txBody>
                    <a:bodyPr wrap="square"/>
                    <a:lstStyle/>
                    <a:p>
                      <a:pPr marL="0" indent="0">
                        <a:spcBef>
                          <a:spcPts val="0"/>
                        </a:spcBef>
                        <a:buNone/>
                      </a:pPr>
                      <a:r>
                        <a:rPr sz="800" b="1">
                          <a:solidFill>
                            <a:srgbClr val="3B312B"/>
                          </a:solidFill>
                          <a:latin typeface="Outfit"/>
                        </a:rPr>
                        <a:t>Failure modes</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Sensor dropout, wrong task class, alert fatigue</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Outlier gating, rising uncertainty widens alerts, fall back to site WBGT rule. Known weakness: 71% of workers who stayed under 38 °C still saw an amber or red tier; threshold tuning and pilot feedback needed</a:t>
                      </a:r>
                    </a:p>
                  </a:txBody>
                  <a:tcPr marL="45720" marR="45720" marT="22860" marB="22860" anchor="ctr">
                    <a:solidFill>
                      <a:srgbClr val="F0E9D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2"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119" name="Google Shape;119;p22"/>
          <p:cNvSpPr txBox="1"/>
          <p:nvPr/>
        </p:nvSpPr>
        <p:spPr>
          <a:xfrm>
            <a:off x="259175" y="861225"/>
            <a:ext cx="86928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Hardware requirements</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Required if wearable, sensor, connected device, or other hardware is there. Include sourcing and safety.</a:t>
            </a:r>
            <a:endParaRPr i="1" sz="1000">
              <a:solidFill>
                <a:schemeClr val="dk2"/>
              </a:solidFill>
              <a:latin typeface="Outfit"/>
              <a:ea typeface="Outfit"/>
              <a:cs typeface="Outfit"/>
              <a:sym typeface="Outfit"/>
            </a:endParaRPr>
          </a:p>
        </p:txBody>
      </p:sp>
      <p:pic>
        <p:nvPicPr>
          <p:cNvPr id="120" name="Google Shape;120;p22"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121" name="TextBox 120"/>
          <p:cNvSpPr txBox="1"/>
          <p:nvPr/>
        </p:nvSpPr>
        <p:spPr>
          <a:xfrm>
            <a:off x="320040" y="1371600"/>
            <a:ext cx="420624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No custom hardware is required</a:t>
            </a:r>
          </a:p>
          <a:p>
            <a:pPr marL="150000" indent="-150000" algn="l">
              <a:spcBef>
                <a:spcPts val="300"/>
              </a:spcBef>
              <a:buChar char="•"/>
            </a:pPr>
            <a:r>
              <a:rPr sz="950" b="1">
                <a:solidFill>
                  <a:srgbClr val="3B312B"/>
                </a:solidFill>
                <a:latin typeface="Outfit"/>
              </a:rPr>
              <a:t>Wearable: </a:t>
            </a:r>
            <a:r>
              <a:rPr sz="950" b="0">
                <a:solidFill>
                  <a:srgbClr val="3B312B"/>
                </a:solidFill>
                <a:latin typeface="Outfit"/>
              </a:rPr>
              <a:t>any consumer wrist or chest heart-rate band with a standard Bluetooth heart-rate profile (for example a PPG band at USD 30 to 100).</a:t>
            </a:r>
          </a:p>
          <a:p>
            <a:pPr marL="150000" indent="-150000" algn="l">
              <a:spcBef>
                <a:spcPts val="300"/>
              </a:spcBef>
              <a:buChar char="•"/>
            </a:pPr>
            <a:r>
              <a:rPr sz="950" b="1">
                <a:solidFill>
                  <a:srgbClr val="3B312B"/>
                </a:solidFill>
                <a:latin typeface="Outfit"/>
              </a:rPr>
              <a:t>Phone: </a:t>
            </a:r>
            <a:r>
              <a:rPr sz="950" b="0">
                <a:solidFill>
                  <a:srgbClr val="3B312B"/>
                </a:solidFill>
                <a:latin typeface="Outfit"/>
              </a:rPr>
              <a:t>a basic smartphone or feature phone with SMS or WhatsApp. Workers without a smartphone can receive voice or SMS alerts.</a:t>
            </a:r>
          </a:p>
          <a:p>
            <a:pPr marL="150000" indent="-150000" algn="l">
              <a:spcBef>
                <a:spcPts val="300"/>
              </a:spcBef>
              <a:buChar char="•"/>
            </a:pPr>
            <a:r>
              <a:rPr sz="950" b="1">
                <a:solidFill>
                  <a:srgbClr val="3B312B"/>
                </a:solidFill>
                <a:latin typeface="Outfit"/>
              </a:rPr>
              <a:t>Site weather: </a:t>
            </a:r>
            <a:r>
              <a:rPr sz="950" b="0">
                <a:solidFill>
                  <a:srgbClr val="3B312B"/>
                </a:solidFill>
                <a:latin typeface="Outfit"/>
              </a:rPr>
              <a:t>a public weather feed, or one low-cost WBGT sensor per site (optional, improves accuracy).</a:t>
            </a:r>
          </a:p>
          <a:p>
            <a:pPr marL="150000" indent="-150000" algn="l">
              <a:spcBef>
                <a:spcPts val="300"/>
              </a:spcBef>
              <a:buChar char="•"/>
            </a:pPr>
            <a:r>
              <a:rPr sz="950" b="1">
                <a:solidFill>
                  <a:srgbClr val="3B312B"/>
                </a:solidFill>
                <a:latin typeface="Outfit"/>
              </a:rPr>
              <a:t>Gateway: </a:t>
            </a:r>
            <a:r>
              <a:rPr sz="950" b="0">
                <a:solidFill>
                  <a:srgbClr val="3B312B"/>
                </a:solidFill>
                <a:latin typeface="Outfit"/>
              </a:rPr>
              <a:t>the worker's phone or a site tablet relays readings; cloud service runs the engine.</a:t>
            </a:r>
          </a:p>
        </p:txBody>
      </p:sp>
      <p:sp>
        <p:nvSpPr>
          <p:cNvPr id="122" name="TextBox 121"/>
          <p:cNvSpPr txBox="1"/>
          <p:nvPr/>
        </p:nvSpPr>
        <p:spPr>
          <a:xfrm>
            <a:off x="4754880" y="1371600"/>
            <a:ext cx="4114800" cy="35661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Sourcing and safety</a:t>
            </a:r>
          </a:p>
          <a:p>
            <a:pPr marL="150000" indent="-150000" algn="l">
              <a:spcBef>
                <a:spcPts val="300"/>
              </a:spcBef>
              <a:buChar char="•"/>
            </a:pPr>
            <a:r>
              <a:rPr sz="950" b="0">
                <a:solidFill>
                  <a:srgbClr val="3B312B"/>
                </a:solidFill>
                <a:latin typeface="Outfit"/>
              </a:rPr>
              <a:t>Off-the-shelf, certified consumer devices; no implant, no ingestible and no invasive sensor in the product.</a:t>
            </a:r>
          </a:p>
          <a:p>
            <a:pPr marL="150000" indent="-150000" algn="l">
              <a:spcBef>
                <a:spcPts val="300"/>
              </a:spcBef>
              <a:buChar char="•"/>
            </a:pPr>
            <a:r>
              <a:rPr sz="950" b="0">
                <a:solidFill>
                  <a:srgbClr val="3B312B"/>
                </a:solidFill>
                <a:latin typeface="Outfit"/>
              </a:rPr>
              <a:t>Skin-contact and battery safety follow the device vendor's certification; band choice must tolerate heat, sweat and dust.</a:t>
            </a:r>
          </a:p>
          <a:p>
            <a:pPr marL="150000" indent="-150000" algn="l">
              <a:spcBef>
                <a:spcPts val="300"/>
              </a:spcBef>
              <a:buChar char="•"/>
            </a:pPr>
            <a:r>
              <a:rPr sz="950" b="0">
                <a:solidFill>
                  <a:srgbClr val="3B312B"/>
                </a:solidFill>
                <a:latin typeface="Outfit"/>
              </a:rPr>
              <a:t>Ingestible core-temperature pills are used only in the ethics-approved calibration sub-study, never as part of the deployed product.</a:t>
            </a:r>
          </a:p>
          <a:p>
            <a:pPr marL="150000" indent="-150000" algn="l">
              <a:spcBef>
                <a:spcPts val="300"/>
              </a:spcBef>
              <a:buChar char="•"/>
            </a:pPr>
            <a:r>
              <a:rPr sz="950" b="0">
                <a:solidFill>
                  <a:srgbClr val="3B312B"/>
                </a:solidFill>
                <a:latin typeface="Outfit"/>
              </a:rPr>
              <a:t>Bands are issued per worker and remain the worker's property for the shift; cleaning and hygiene protocol is part of the pilot.</a:t>
            </a:r>
          </a:p>
          <a:p>
            <a:pPr marL="0" indent="0" algn="l">
              <a:spcBef>
                <a:spcPts val="600"/>
              </a:spcBef>
              <a:buNone/>
            </a:pPr>
            <a:r>
              <a:rPr sz="1050" b="1">
                <a:solidFill>
                  <a:srgbClr val="7A6656"/>
                </a:solidFill>
                <a:latin typeface="Outfit"/>
              </a:rPr>
              <a:t>Classification</a:t>
            </a:r>
          </a:p>
          <a:p>
            <a:pPr marL="150000" indent="-150000" algn="l">
              <a:spcBef>
                <a:spcPts val="300"/>
              </a:spcBef>
              <a:buChar char="•"/>
            </a:pPr>
            <a:r>
              <a:rPr sz="950" b="0">
                <a:solidFill>
                  <a:srgbClr val="3B312B"/>
                </a:solidFill>
                <a:latin typeface="Outfit"/>
              </a:rPr>
              <a:t>This submission is software-based. Hardware is third-party and interchangeable.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3"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126" name="Google Shape;126;p23"/>
          <p:cNvSpPr txBox="1"/>
          <p:nvPr/>
        </p:nvSpPr>
        <p:spPr>
          <a:xfrm>
            <a:off x="259175" y="861225"/>
            <a:ext cx="85992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Path to pilot and scale*</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Stakeholders, integration, regulatory needs, timeline assumptions, and sustainability.</a:t>
            </a:r>
            <a:endParaRPr i="1" sz="1000">
              <a:solidFill>
                <a:schemeClr val="dk2"/>
              </a:solidFill>
              <a:latin typeface="Outfit"/>
              <a:ea typeface="Outfit"/>
              <a:cs typeface="Outfit"/>
              <a:sym typeface="Outfit"/>
            </a:endParaRPr>
          </a:p>
        </p:txBody>
      </p:sp>
      <p:pic>
        <p:nvPicPr>
          <p:cNvPr id="127" name="Google Shape;127;p23"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128" name="Rounded Rectangle 127"/>
          <p:cNvSpPr/>
          <p:nvPr/>
        </p:nvSpPr>
        <p:spPr>
          <a:xfrm>
            <a:off x="274320" y="1371600"/>
            <a:ext cx="1645920" cy="292608"/>
          </a:xfrm>
          <a:prstGeom prst="roundRect">
            <a:avLst>
              <a:gd name="adj" fmla="val 12000"/>
            </a:avLst>
          </a:prstGeom>
          <a:solidFill>
            <a:srgbClr val="7A66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FFFFFF"/>
                </a:solidFill>
                <a:latin typeface="Outfit"/>
              </a:rPr>
              <a:t>Nov to Dec 2026</a:t>
            </a:r>
          </a:p>
        </p:txBody>
      </p:sp>
      <p:sp>
        <p:nvSpPr>
          <p:cNvPr id="129" name="Rounded Rectangle 128"/>
          <p:cNvSpPr/>
          <p:nvPr/>
        </p:nvSpPr>
        <p:spPr>
          <a:xfrm>
            <a:off x="274320" y="1700784"/>
            <a:ext cx="1645920" cy="96012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Prototype, validation and GITEX presentation (this challenge)</a:t>
            </a:r>
          </a:p>
        </p:txBody>
      </p:sp>
      <p:sp>
        <p:nvSpPr>
          <p:cNvPr id="130" name="Rounded Rectangle 129"/>
          <p:cNvSpPr/>
          <p:nvPr/>
        </p:nvSpPr>
        <p:spPr>
          <a:xfrm>
            <a:off x="2011679" y="1371600"/>
            <a:ext cx="1645920" cy="292608"/>
          </a:xfrm>
          <a:prstGeom prst="roundRect">
            <a:avLst>
              <a:gd name="adj" fmla="val 12000"/>
            </a:avLst>
          </a:prstGeom>
          <a:solidFill>
            <a:srgbClr val="7A66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FFFFFF"/>
                </a:solidFill>
                <a:latin typeface="Outfit"/>
              </a:rPr>
              <a:t>Q1 2027</a:t>
            </a:r>
          </a:p>
        </p:txBody>
      </p:sp>
      <p:sp>
        <p:nvSpPr>
          <p:cNvPr id="131" name="Rounded Rectangle 130"/>
          <p:cNvSpPr/>
          <p:nvPr/>
        </p:nvSpPr>
        <p:spPr>
          <a:xfrm>
            <a:off x="2011679" y="1700784"/>
            <a:ext cx="1645920" cy="96012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Recruit occupational-health physician; ethics approval; heat-chamber calibration against ingestible pill, about 30 volunteers</a:t>
            </a:r>
          </a:p>
        </p:txBody>
      </p:sp>
      <p:sp>
        <p:nvSpPr>
          <p:cNvPr id="132" name="Rounded Rectangle 131"/>
          <p:cNvSpPr/>
          <p:nvPr/>
        </p:nvSpPr>
        <p:spPr>
          <a:xfrm>
            <a:off x="3749039" y="1371600"/>
            <a:ext cx="1645920" cy="292608"/>
          </a:xfrm>
          <a:prstGeom prst="roundRect">
            <a:avLst>
              <a:gd name="adj" fmla="val 12000"/>
            </a:avLst>
          </a:prstGeom>
          <a:solidFill>
            <a:srgbClr val="7A66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FFFFFF"/>
                </a:solidFill>
                <a:latin typeface="Outfit"/>
              </a:rPr>
              <a:t>Q2 2027</a:t>
            </a:r>
          </a:p>
        </p:txBody>
      </p:sp>
      <p:sp>
        <p:nvSpPr>
          <p:cNvPr id="133" name="Rounded Rectangle 132"/>
          <p:cNvSpPr/>
          <p:nvPr/>
        </p:nvSpPr>
        <p:spPr>
          <a:xfrm>
            <a:off x="3749039" y="1700784"/>
            <a:ext cx="1645920" cy="96012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Fix thresholds and alert wording; native-speaker review; privacy impact assessment; data-protection agreement</a:t>
            </a:r>
          </a:p>
        </p:txBody>
      </p:sp>
      <p:sp>
        <p:nvSpPr>
          <p:cNvPr id="134" name="Rounded Rectangle 133"/>
          <p:cNvSpPr/>
          <p:nvPr/>
        </p:nvSpPr>
        <p:spPr>
          <a:xfrm>
            <a:off x="5486399" y="1371600"/>
            <a:ext cx="1645920" cy="292608"/>
          </a:xfrm>
          <a:prstGeom prst="roundRect">
            <a:avLst>
              <a:gd name="adj" fmla="val 12000"/>
            </a:avLst>
          </a:prstGeom>
          <a:solidFill>
            <a:srgbClr val="7A66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FFFFFF"/>
                </a:solidFill>
                <a:latin typeface="Outfit"/>
              </a:rPr>
              <a:t>Jun to Sep 2027</a:t>
            </a:r>
          </a:p>
        </p:txBody>
      </p:sp>
      <p:sp>
        <p:nvSpPr>
          <p:cNvPr id="135" name="Rounded Rectangle 134"/>
          <p:cNvSpPr/>
          <p:nvPr/>
        </p:nvSpPr>
        <p:spPr>
          <a:xfrm>
            <a:off x="5486399" y="1700784"/>
            <a:ext cx="1645920" cy="96012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Pilot at 1 or 2 construction or delivery sites, 50 to 100 workers, during the midday-break season; compare with matched baseline</a:t>
            </a:r>
          </a:p>
        </p:txBody>
      </p:sp>
      <p:sp>
        <p:nvSpPr>
          <p:cNvPr id="136" name="Rounded Rectangle 135"/>
          <p:cNvSpPr/>
          <p:nvPr/>
        </p:nvSpPr>
        <p:spPr>
          <a:xfrm>
            <a:off x="7223759" y="1371600"/>
            <a:ext cx="1645920" cy="292608"/>
          </a:xfrm>
          <a:prstGeom prst="roundRect">
            <a:avLst>
              <a:gd name="adj" fmla="val 12000"/>
            </a:avLst>
          </a:prstGeom>
          <a:solidFill>
            <a:srgbClr val="7A66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50" b="1">
                <a:solidFill>
                  <a:srgbClr val="FFFFFF"/>
                </a:solidFill>
                <a:latin typeface="Outfit"/>
              </a:rPr>
              <a:t>2028</a:t>
            </a:r>
          </a:p>
        </p:txBody>
      </p:sp>
      <p:sp>
        <p:nvSpPr>
          <p:cNvPr id="137" name="Rounded Rectangle 136"/>
          <p:cNvSpPr/>
          <p:nvPr/>
        </p:nvSpPr>
        <p:spPr>
          <a:xfrm>
            <a:off x="7223759" y="1700784"/>
            <a:ext cx="1645920" cy="960120"/>
          </a:xfrm>
          <a:prstGeom prst="roundRect">
            <a:avLst>
              <a:gd name="adj" fmla="val 12000"/>
            </a:avLst>
          </a:prstGeom>
          <a:solidFill>
            <a:srgbClr val="F0E9DF"/>
          </a:solidFill>
          <a:ln w="11430">
            <a:solidFill>
              <a:srgbClr val="7A665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marL="0" indent="0">
              <a:spcBef>
                <a:spcPts val="0"/>
              </a:spcBef>
              <a:buNone/>
            </a:pPr>
            <a:r>
              <a:rPr sz="800" b="0">
                <a:solidFill>
                  <a:srgbClr val="3B312B"/>
                </a:solidFill>
                <a:latin typeface="Outfit"/>
              </a:rPr>
              <a:t>Scale to more employers, integrate with safety systems; evidence package for regulators and insurers</a:t>
            </a:r>
          </a:p>
        </p:txBody>
      </p:sp>
      <p:sp>
        <p:nvSpPr>
          <p:cNvPr id="138" name="TextBox 137"/>
          <p:cNvSpPr txBox="1"/>
          <p:nvPr/>
        </p:nvSpPr>
        <p:spPr>
          <a:xfrm>
            <a:off x="274320" y="2788920"/>
            <a:ext cx="4206240" cy="21945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Stakeholders and integration</a:t>
            </a:r>
          </a:p>
          <a:p>
            <a:pPr marL="150000" indent="-150000" algn="l">
              <a:spcBef>
                <a:spcPts val="300"/>
              </a:spcBef>
              <a:buChar char="•"/>
            </a:pPr>
            <a:r>
              <a:rPr sz="880" b="0">
                <a:solidFill>
                  <a:srgbClr val="3B312B"/>
                </a:solidFill>
                <a:latin typeface="Outfit"/>
              </a:rPr>
              <a:t>Abu Dhabi Department of Health and MoHRE (policy and regulatory fit).</a:t>
            </a:r>
          </a:p>
          <a:p>
            <a:pPr marL="150000" indent="-150000" algn="l">
              <a:spcBef>
                <a:spcPts val="300"/>
              </a:spcBef>
              <a:buChar char="•"/>
            </a:pPr>
            <a:r>
              <a:rPr sz="880" b="0">
                <a:solidFill>
                  <a:srgbClr val="3B312B"/>
                </a:solidFill>
                <a:latin typeface="Outfit"/>
              </a:rPr>
              <a:t>Contractors and logistics fleets (deployment); insurers (incentive); wearable and WhatsApp providers.</a:t>
            </a:r>
          </a:p>
          <a:p>
            <a:pPr marL="150000" indent="-150000" algn="l">
              <a:spcBef>
                <a:spcPts val="300"/>
              </a:spcBef>
              <a:buChar char="•"/>
            </a:pPr>
            <a:r>
              <a:rPr sz="880" b="0">
                <a:solidFill>
                  <a:srgbClr val="3B312B"/>
                </a:solidFill>
                <a:latin typeface="Outfit"/>
              </a:rPr>
              <a:t>Integration: WhatsApp Business API or SMS gateway, site safety dashboards, aggregated feed for authorities.</a:t>
            </a:r>
          </a:p>
        </p:txBody>
      </p:sp>
      <p:sp>
        <p:nvSpPr>
          <p:cNvPr id="139" name="TextBox 138"/>
          <p:cNvSpPr txBox="1"/>
          <p:nvPr/>
        </p:nvSpPr>
        <p:spPr>
          <a:xfrm>
            <a:off x="4663440" y="2788920"/>
            <a:ext cx="4206240" cy="219456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Regulatory, business and sustainability</a:t>
            </a:r>
          </a:p>
          <a:p>
            <a:pPr marL="150000" indent="-150000" algn="l">
              <a:spcBef>
                <a:spcPts val="300"/>
              </a:spcBef>
              <a:buChar char="•"/>
            </a:pPr>
            <a:r>
              <a:rPr sz="880" b="0">
                <a:solidFill>
                  <a:srgbClr val="3B312B"/>
                </a:solidFill>
                <a:latin typeface="Outfit"/>
              </a:rPr>
              <a:t>Positioned as wellness and safety decision support, not diagnosis; formal classification to be confirmed with the regulator before pilot.</a:t>
            </a:r>
          </a:p>
          <a:p>
            <a:pPr marL="150000" indent="-150000" algn="l">
              <a:spcBef>
                <a:spcPts val="300"/>
              </a:spcBef>
              <a:buChar char="•"/>
            </a:pPr>
            <a:r>
              <a:rPr sz="880" b="0">
                <a:solidFill>
                  <a:srgbClr val="3B312B"/>
                </a:solidFill>
                <a:latin typeface="Outfit"/>
              </a:rPr>
              <a:t>Model: monthly fee per worker during heat season, offset by fewer lost shifts and claims; insurer-funded option.</a:t>
            </a:r>
          </a:p>
          <a:p>
            <a:pPr marL="150000" indent="-150000" algn="l">
              <a:spcBef>
                <a:spcPts val="300"/>
              </a:spcBef>
              <a:buChar char="•"/>
            </a:pPr>
            <a:r>
              <a:rPr sz="880" b="0">
                <a:solidFill>
                  <a:srgbClr val="3B312B"/>
                </a:solidFill>
                <a:latin typeface="Outfit"/>
              </a:rPr>
              <a:t>Low cost: commodity wearables, cloud inference, no new infrastructure. Scales to any hot climate.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4"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133" name="Google Shape;133;p24"/>
          <p:cNvSpPr txBox="1"/>
          <p:nvPr/>
        </p:nvSpPr>
        <p:spPr>
          <a:xfrm>
            <a:off x="259175" y="861225"/>
            <a:ext cx="87012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Pre-existing IP and third-party materials*</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Identify ownership, licenses, open-source components, and restrictions.</a:t>
            </a:r>
            <a:endParaRPr i="1" sz="1000">
              <a:solidFill>
                <a:schemeClr val="dk2"/>
              </a:solidFill>
              <a:latin typeface="Outfit"/>
              <a:ea typeface="Outfit"/>
              <a:cs typeface="Outfit"/>
              <a:sym typeface="Outfit"/>
            </a:endParaRPr>
          </a:p>
        </p:txBody>
      </p:sp>
      <p:pic>
        <p:nvPicPr>
          <p:cNvPr id="134" name="Google Shape;134;p24"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graphicFrame>
        <p:nvGraphicFramePr>
          <p:cNvPr id="135" name="Table 134"/>
          <p:cNvGraphicFramePr>
            <a:graphicFrameLocks noGrp="1"/>
          </p:cNvGraphicFramePr>
          <p:nvPr/>
        </p:nvGraphicFramePr>
        <p:xfrm>
          <a:off x="274320" y="1371600"/>
          <a:ext cx="8595360" cy="2816352"/>
        </p:xfrm>
        <a:graphic>
          <a:graphicData uri="http://schemas.openxmlformats.org/drawingml/2006/table">
            <a:tbl>
              <a:tblPr firstRow="0" bandRow="0">
                <a:tableStyleId>{2D5ABB26-0587-4C30-8999-92F81FD0307C}</a:tableStyleId>
              </a:tblPr>
              <a:tblGrid>
                <a:gridCol w="3566160"/>
                <a:gridCol w="2194560"/>
                <a:gridCol w="2834640"/>
              </a:tblGrid>
              <a:tr h="402336">
                <a:tc>
                  <a:txBody>
                    <a:bodyPr wrap="square"/>
                    <a:lstStyle/>
                    <a:p>
                      <a:pPr marL="0" indent="0">
                        <a:spcBef>
                          <a:spcPts val="0"/>
                        </a:spcBef>
                        <a:buNone/>
                      </a:pPr>
                      <a:r>
                        <a:rPr sz="800" b="1">
                          <a:solidFill>
                            <a:srgbClr val="FFFFFF"/>
                          </a:solidFill>
                          <a:latin typeface="Outfit"/>
                        </a:rPr>
                        <a:t>Component</a:t>
                      </a:r>
                    </a:p>
                  </a:txBody>
                  <a:tcPr marL="45720" marR="45720" marT="22860" marB="22860" anchor="ctr">
                    <a:solidFill>
                      <a:srgbClr val="7A6656"/>
                    </a:solidFill>
                  </a:tcPr>
                </a:tc>
                <a:tc>
                  <a:txBody>
                    <a:bodyPr wrap="square"/>
                    <a:lstStyle/>
                    <a:p>
                      <a:pPr marL="0" indent="0">
                        <a:spcBef>
                          <a:spcPts val="0"/>
                        </a:spcBef>
                        <a:buNone/>
                      </a:pPr>
                      <a:r>
                        <a:rPr sz="800" b="1">
                          <a:solidFill>
                            <a:srgbClr val="FFFFFF"/>
                          </a:solidFill>
                          <a:latin typeface="Outfit"/>
                        </a:rPr>
                        <a:t>Owner</a:t>
                      </a:r>
                    </a:p>
                  </a:txBody>
                  <a:tcPr marL="45720" marR="45720" marT="22860" marB="22860" anchor="ctr">
                    <a:solidFill>
                      <a:srgbClr val="7A6656"/>
                    </a:solidFill>
                  </a:tcPr>
                </a:tc>
                <a:tc>
                  <a:txBody>
                    <a:bodyPr wrap="square"/>
                    <a:lstStyle/>
                    <a:p>
                      <a:pPr marL="0" indent="0">
                        <a:spcBef>
                          <a:spcPts val="0"/>
                        </a:spcBef>
                        <a:buNone/>
                      </a:pPr>
                      <a:r>
                        <a:rPr sz="800" b="1">
                          <a:solidFill>
                            <a:srgbClr val="FFFFFF"/>
                          </a:solidFill>
                          <a:latin typeface="Outfit"/>
                        </a:rPr>
                        <a:t>Licence / restriction</a:t>
                      </a:r>
                    </a:p>
                  </a:txBody>
                  <a:tcPr marL="45720" marR="45720" marT="22860" marB="22860" anchor="ctr">
                    <a:solidFill>
                      <a:srgbClr val="7A6656"/>
                    </a:solidFill>
                  </a:tcPr>
                </a:tc>
              </a:tr>
              <a:tr h="402336">
                <a:tc>
                  <a:txBody>
                    <a:bodyPr wrap="square"/>
                    <a:lstStyle/>
                    <a:p>
                      <a:pPr marL="0" indent="0">
                        <a:spcBef>
                          <a:spcPts val="0"/>
                        </a:spcBef>
                        <a:buNone/>
                      </a:pPr>
                      <a:r>
                        <a:rPr sz="800" b="1">
                          <a:solidFill>
                            <a:srgbClr val="3B312B"/>
                          </a:solidFill>
                          <a:latin typeface="Outfit"/>
                        </a:rPr>
                        <a:t>HeatGuard code: simulator, estimator, policies, API, dashboard, deck, video</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Applicant (Abdul Mannaan Sayyad); written during this challenge</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No pre-existing product. Employer (Triad AI) permission and IP position being confirmed by the applicant</a:t>
                      </a:r>
                    </a:p>
                  </a:txBody>
                  <a:tcPr marL="45720" marR="45720" marT="22860" marB="22860" anchor="ctr">
                    <a:solidFill>
                      <a:srgbClr val="F0E9DF"/>
                    </a:solidFill>
                  </a:tcPr>
                </a:tc>
              </a:tr>
              <a:tr h="402336">
                <a:tc>
                  <a:txBody>
                    <a:bodyPr wrap="square"/>
                    <a:lstStyle/>
                    <a:p>
                      <a:pPr marL="0" indent="0">
                        <a:spcBef>
                          <a:spcPts val="0"/>
                        </a:spcBef>
                        <a:buNone/>
                      </a:pPr>
                      <a:r>
                        <a:rPr sz="800" b="1">
                          <a:solidFill>
                            <a:srgbClr val="3B312B"/>
                          </a:solidFill>
                          <a:latin typeface="Outfit"/>
                        </a:rPr>
                        <a:t>Python libraries: NumPy, SciPy, Matplotlib, FastAPI, Pydantic, Uvicorn, pytest, Playwright</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Respective authors</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BSD / MIT / Apache-2.0, unrestricted use</a:t>
                      </a:r>
                    </a:p>
                  </a:txBody>
                  <a:tcPr marL="45720" marR="45720" marT="22860" marB="22860" anchor="ctr">
                    <a:solidFill>
                      <a:srgbClr val="FBF8F3"/>
                    </a:solidFill>
                  </a:tcPr>
                </a:tc>
              </a:tr>
              <a:tr h="402336">
                <a:tc>
                  <a:txBody>
                    <a:bodyPr wrap="square"/>
                    <a:lstStyle/>
                    <a:p>
                      <a:pPr marL="0" indent="0">
                        <a:spcBef>
                          <a:spcPts val="0"/>
                        </a:spcBef>
                        <a:buNone/>
                      </a:pPr>
                      <a:r>
                        <a:rPr sz="800" b="1">
                          <a:solidFill>
                            <a:srgbClr val="3B312B"/>
                          </a:solidFill>
                          <a:latin typeface="Outfit"/>
                        </a:rPr>
                        <a:t>Fonts: Outfit, Noto Sans family, JetBrains Mono</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Respective authors</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SIL Open Font License</a:t>
                      </a:r>
                    </a:p>
                  </a:txBody>
                  <a:tcPr marL="45720" marR="45720" marT="22860" marB="22860" anchor="ctr">
                    <a:solidFill>
                      <a:srgbClr val="F0E9DF"/>
                    </a:solidFill>
                  </a:tcPr>
                </a:tc>
              </a:tr>
              <a:tr h="402336">
                <a:tc>
                  <a:txBody>
                    <a:bodyPr wrap="square"/>
                    <a:lstStyle/>
                    <a:p>
                      <a:pPr marL="0" indent="0">
                        <a:spcBef>
                          <a:spcPts val="0"/>
                        </a:spcBef>
                        <a:buNone/>
                      </a:pPr>
                      <a:r>
                        <a:rPr sz="800" b="1">
                          <a:solidFill>
                            <a:srgbClr val="3B312B"/>
                          </a:solidFill>
                          <a:latin typeface="Outfit"/>
                        </a:rPr>
                        <a:t>Kokoro text-to-speech (video narration)</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Kokoro authors</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Apache-2.0 model and library</a:t>
                      </a:r>
                    </a:p>
                  </a:txBody>
                  <a:tcPr marL="45720" marR="45720" marT="22860" marB="22860" anchor="ctr">
                    <a:solidFill>
                      <a:srgbClr val="FBF8F3"/>
                    </a:solidFill>
                  </a:tcPr>
                </a:tc>
              </a:tr>
              <a:tr h="402336">
                <a:tc>
                  <a:txBody>
                    <a:bodyPr wrap="square"/>
                    <a:lstStyle/>
                    <a:p>
                      <a:pPr marL="0" indent="0">
                        <a:spcBef>
                          <a:spcPts val="0"/>
                        </a:spcBef>
                        <a:buNone/>
                      </a:pPr>
                      <a:r>
                        <a:rPr sz="800" b="1">
                          <a:solidFill>
                            <a:srgbClr val="3B312B"/>
                          </a:solidFill>
                          <a:latin typeface="Outfit"/>
                        </a:rPr>
                        <a:t>Scientific equations (Gagge-type two-node balance, Stull wet-bulb, Tetens vapour pressure, DuBois body surface area)</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Published literature</a:t>
                      </a:r>
                    </a:p>
                  </a:txBody>
                  <a:tcPr marL="45720" marR="45720" marT="22860" marB="22860" anchor="ctr">
                    <a:solidFill>
                      <a:srgbClr val="F0E9DF"/>
                    </a:solidFill>
                  </a:tcPr>
                </a:tc>
                <a:tc>
                  <a:txBody>
                    <a:bodyPr wrap="square"/>
                    <a:lstStyle/>
                    <a:p>
                      <a:pPr marL="0" indent="0">
                        <a:spcBef>
                          <a:spcPts val="0"/>
                        </a:spcBef>
                        <a:buNone/>
                      </a:pPr>
                      <a:r>
                        <a:rPr sz="800" b="0">
                          <a:solidFill>
                            <a:srgbClr val="3B312B"/>
                          </a:solidFill>
                          <a:latin typeface="Outfit"/>
                        </a:rPr>
                        <a:t>Free to implement; cited on the evidence slide</a:t>
                      </a:r>
                    </a:p>
                  </a:txBody>
                  <a:tcPr marL="45720" marR="45720" marT="22860" marB="22860" anchor="ctr">
                    <a:solidFill>
                      <a:srgbClr val="F0E9DF"/>
                    </a:solidFill>
                  </a:tcPr>
                </a:tc>
              </a:tr>
              <a:tr h="402336">
                <a:tc>
                  <a:txBody>
                    <a:bodyPr wrap="square"/>
                    <a:lstStyle/>
                    <a:p>
                      <a:pPr marL="0" indent="0">
                        <a:spcBef>
                          <a:spcPts val="0"/>
                        </a:spcBef>
                        <a:buNone/>
                      </a:pPr>
                      <a:r>
                        <a:rPr sz="800" b="1">
                          <a:solidFill>
                            <a:srgbClr val="3B312B"/>
                          </a:solidFill>
                          <a:latin typeface="Outfit"/>
                        </a:rPr>
                        <a:t>Challenge template, Future Health and co-creator logos</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Organisers</a:t>
                      </a:r>
                    </a:p>
                  </a:txBody>
                  <a:tcPr marL="45720" marR="45720" marT="22860" marB="22860" anchor="ctr">
                    <a:solidFill>
                      <a:srgbClr val="FBF8F3"/>
                    </a:solidFill>
                  </a:tcPr>
                </a:tc>
                <a:tc>
                  <a:txBody>
                    <a:bodyPr wrap="square"/>
                    <a:lstStyle/>
                    <a:p>
                      <a:pPr marL="0" indent="0">
                        <a:spcBef>
                          <a:spcPts val="0"/>
                        </a:spcBef>
                        <a:buNone/>
                      </a:pPr>
                      <a:r>
                        <a:rPr sz="800" b="0">
                          <a:solidFill>
                            <a:srgbClr val="3B312B"/>
                          </a:solidFill>
                          <a:latin typeface="Outfit"/>
                        </a:rPr>
                        <a:t>Used only as supplied for this submission</a:t>
                      </a:r>
                    </a:p>
                  </a:txBody>
                  <a:tcPr marL="45720" marR="45720" marT="22860" marB="22860" anchor="ctr">
                    <a:solidFill>
                      <a:srgbClr val="FBF8F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5"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sp>
        <p:nvSpPr>
          <p:cNvPr id="140" name="Google Shape;140;p25"/>
          <p:cNvSpPr txBox="1"/>
          <p:nvPr/>
        </p:nvSpPr>
        <p:spPr>
          <a:xfrm>
            <a:off x="259175" y="861225"/>
            <a:ext cx="87012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latin typeface="Outfit"/>
                <a:ea typeface="Outfit"/>
                <a:cs typeface="Outfit"/>
                <a:sym typeface="Outfit"/>
              </a:rPr>
              <a:t>Conflict of interest declaration*</a:t>
            </a:r>
            <a:endParaRPr sz="1200">
              <a:solidFill>
                <a:schemeClr val="dk2"/>
              </a:solidFill>
              <a:latin typeface="Outfit"/>
              <a:ea typeface="Outfit"/>
              <a:cs typeface="Outfit"/>
              <a:sym typeface="Outfit"/>
            </a:endParaRPr>
          </a:p>
          <a:p>
            <a:pPr indent="0" lvl="0" marL="0" rtl="0" algn="l">
              <a:spcBef>
                <a:spcPts val="0"/>
              </a:spcBef>
              <a:spcAft>
                <a:spcPts val="0"/>
              </a:spcAft>
              <a:buNone/>
            </a:pPr>
            <a:r>
              <a:rPr i="1" lang="en-GB" sz="1000">
                <a:solidFill>
                  <a:schemeClr val="dk2"/>
                </a:solidFill>
                <a:latin typeface="Outfit"/>
                <a:ea typeface="Outfit"/>
                <a:cs typeface="Outfit"/>
                <a:sym typeface="Outfit"/>
              </a:rPr>
              <a:t>Disclose relationships with organizers, partners, or judges.</a:t>
            </a:r>
            <a:endParaRPr i="1" sz="1000">
              <a:solidFill>
                <a:schemeClr val="dk2"/>
              </a:solidFill>
              <a:latin typeface="Outfit"/>
              <a:ea typeface="Outfit"/>
              <a:cs typeface="Outfit"/>
              <a:sym typeface="Outfit"/>
            </a:endParaRPr>
          </a:p>
        </p:txBody>
      </p:sp>
      <p:pic>
        <p:nvPicPr>
          <p:cNvPr id="141" name="Google Shape;141;p25"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142" name="TextBox 141"/>
          <p:cNvSpPr txBox="1"/>
          <p:nvPr/>
        </p:nvSpPr>
        <p:spPr>
          <a:xfrm>
            <a:off x="320040" y="1417320"/>
            <a:ext cx="8503920" cy="3200400"/>
          </a:xfrm>
          <a:prstGeom prst="rect">
            <a:avLst/>
          </a:prstGeom>
          <a:noFill/>
        </p:spPr>
        <p:txBody>
          <a:bodyPr wrap="square" anchor="t" lIns="36576" rIns="36576" tIns="18288" bIns="18288">
            <a:spAutoFit/>
          </a:bodyPr>
          <a:lstStyle/>
          <a:p>
            <a:pPr marL="0" indent="0" algn="l">
              <a:spcBef>
                <a:spcPts val="0"/>
              </a:spcBef>
              <a:buNone/>
            </a:pPr>
            <a:r>
              <a:rPr sz="1400" b="1">
                <a:solidFill>
                  <a:srgbClr val="7A6656"/>
                </a:solidFill>
                <a:latin typeface="Outfit"/>
              </a:rPr>
              <a:t>None declared.</a:t>
            </a:r>
          </a:p>
          <a:p>
            <a:pPr marL="0" indent="0" algn="l">
              <a:spcBef>
                <a:spcPts val="800"/>
              </a:spcBef>
              <a:buNone/>
            </a:pPr>
            <a:r>
              <a:rPr sz="1100" b="0">
                <a:solidFill>
                  <a:srgbClr val="3B312B"/>
                </a:solidFill>
                <a:latin typeface="Outfit"/>
              </a:rPr>
              <a:t>The applicant has no known financial, employment, family or advisory relationship with the organisers of the Future Health Digital Innovation Challenge, its co-creators (Microsoft, Inception, MBZUAI), the collaborator, or any member of the judging panel.</a:t>
            </a:r>
          </a:p>
          <a:p>
            <a:pPr marL="0" indent="0" algn="l">
              <a:spcBef>
                <a:spcPts val="800"/>
              </a:spcBef>
              <a:buNone/>
            </a:pPr>
            <a:r>
              <a:rPr sz="1100" b="0">
                <a:solidFill>
                  <a:srgbClr val="3B312B"/>
                </a:solidFill>
                <a:latin typeface="Outfit"/>
              </a:rPr>
              <a:t>The applicant works as an AI engineer at Triad AI. To the applicant's knowledge, Triad AI is not an organiser, co-creator, collaborator or sponsor of this challenge.</a:t>
            </a:r>
          </a:p>
          <a:p>
            <a:pPr marL="0" indent="0" algn="l">
              <a:spcBef>
                <a:spcPts val="800"/>
              </a:spcBef>
              <a:buNone/>
            </a:pPr>
            <a:r>
              <a:rPr sz="1100" b="0">
                <a:solidFill>
                  <a:srgbClr val="3B312B"/>
                </a:solidFill>
                <a:latin typeface="Outfit"/>
              </a:rPr>
              <a:t>If a relationship becomes known before judging, the applicant will disclose it to the organisers immediately.</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6" title="FHDIC S2.png"/>
          <p:cNvPicPr preferRelativeResize="0"/>
          <p:nvPr/>
        </p:nvPicPr>
        <p:blipFill rotWithShape="1">
          <a:blip r:embed="rId3">
            <a:alphaModFix/>
          </a:blip>
          <a:srcRect b="-743" l="0" r="0" t="98599"/>
          <a:stretch/>
        </p:blipFill>
        <p:spPr>
          <a:xfrm>
            <a:off x="0" y="5071451"/>
            <a:ext cx="9144000" cy="110300"/>
          </a:xfrm>
          <a:prstGeom prst="rect">
            <a:avLst/>
          </a:prstGeom>
          <a:noFill/>
          <a:ln>
            <a:noFill/>
          </a:ln>
        </p:spPr>
      </p:pic>
      <p:pic>
        <p:nvPicPr>
          <p:cNvPr id="148" name="Google Shape;148;p26" title="FHDIC S2.png"/>
          <p:cNvPicPr preferRelativeResize="0"/>
          <p:nvPr/>
        </p:nvPicPr>
        <p:blipFill rotWithShape="1">
          <a:blip r:embed="rId4">
            <a:alphaModFix/>
          </a:blip>
          <a:srcRect b="87076" l="0" r="0" t="0"/>
          <a:stretch/>
        </p:blipFill>
        <p:spPr>
          <a:xfrm>
            <a:off x="0" y="0"/>
            <a:ext cx="9144000" cy="664751"/>
          </a:xfrm>
          <a:prstGeom prst="rect">
            <a:avLst/>
          </a:prstGeom>
          <a:noFill/>
          <a:ln>
            <a:noFill/>
          </a:ln>
        </p:spPr>
      </p:pic>
      <p:sp>
        <p:nvSpPr>
          <p:cNvPr id="149" name="TextBox 148"/>
          <p:cNvSpPr txBox="1"/>
          <p:nvPr/>
        </p:nvSpPr>
        <p:spPr>
          <a:xfrm>
            <a:off x="274320" y="731520"/>
            <a:ext cx="8595360" cy="274320"/>
          </a:xfrm>
          <a:prstGeom prst="rect">
            <a:avLst/>
          </a:prstGeom>
          <a:noFill/>
        </p:spPr>
        <p:txBody>
          <a:bodyPr wrap="square" anchor="t" lIns="36576" rIns="36576" tIns="18288" bIns="18288">
            <a:spAutoFit/>
          </a:bodyPr>
          <a:lstStyle/>
          <a:p>
            <a:pPr marL="0" indent="0" algn="l">
              <a:spcBef>
                <a:spcPts val="300"/>
              </a:spcBef>
              <a:buNone/>
            </a:pPr>
            <a:r>
              <a:rPr sz="1100" b="1">
                <a:solidFill>
                  <a:srgbClr val="7A6656"/>
                </a:solidFill>
                <a:latin typeface="Outfit"/>
              </a:rPr>
              <a:t>Additional slide: how HeatGuard behaves on one simulated hot August shift, and what is still open</a:t>
            </a:r>
          </a:p>
        </p:txBody>
      </p:sp>
      <p:pic>
        <p:nvPicPr>
          <p:cNvPr id="150" name="Picture 149" descr="fig_tradeoff.png"/>
          <p:cNvPicPr>
            <a:picLocks noChangeAspect="1"/>
          </p:cNvPicPr>
          <p:nvPr/>
        </p:nvPicPr>
        <p:blipFill>
          <a:blip r:embed="rId5"/>
          <a:stretch>
            <a:fillRect/>
          </a:stretch>
        </p:blipFill>
        <p:spPr>
          <a:xfrm>
            <a:off x="274320" y="1097280"/>
            <a:ext cx="4160520" cy="2415786"/>
          </a:xfrm>
          <a:prstGeom prst="rect">
            <a:avLst/>
          </a:prstGeom>
        </p:spPr>
      </p:pic>
      <p:pic>
        <p:nvPicPr>
          <p:cNvPr id="151" name="Picture 150" descr="fig_accuracy.png"/>
          <p:cNvPicPr>
            <a:picLocks noChangeAspect="1"/>
          </p:cNvPicPr>
          <p:nvPr/>
        </p:nvPicPr>
        <p:blipFill>
          <a:blip r:embed="rId6"/>
          <a:stretch>
            <a:fillRect/>
          </a:stretch>
        </p:blipFill>
        <p:spPr>
          <a:xfrm>
            <a:off x="274320" y="3063240"/>
            <a:ext cx="4160520" cy="1799144"/>
          </a:xfrm>
          <a:prstGeom prst="rect">
            <a:avLst/>
          </a:prstGeom>
        </p:spPr>
      </p:pic>
      <p:sp>
        <p:nvSpPr>
          <p:cNvPr id="152" name="TextBox 151"/>
          <p:cNvSpPr txBox="1"/>
          <p:nvPr/>
        </p:nvSpPr>
        <p:spPr>
          <a:xfrm>
            <a:off x="4617720" y="1097280"/>
            <a:ext cx="4251960" cy="3840480"/>
          </a:xfrm>
          <a:prstGeom prst="rect">
            <a:avLst/>
          </a:prstGeom>
          <a:noFill/>
        </p:spPr>
        <p:txBody>
          <a:bodyPr wrap="square" anchor="t" lIns="36576" rIns="36576" tIns="18288" bIns="18288">
            <a:spAutoFit/>
          </a:bodyPr>
          <a:lstStyle/>
          <a:p>
            <a:pPr marL="0" indent="0" algn="l">
              <a:spcBef>
                <a:spcPts val="600"/>
              </a:spcBef>
              <a:buNone/>
            </a:pPr>
            <a:r>
              <a:rPr sz="1050" b="1">
                <a:solidFill>
                  <a:srgbClr val="7A6656"/>
                </a:solidFill>
                <a:latin typeface="Outfit"/>
              </a:rPr>
              <a:t>Demo shift (8 workers, 36 °C mean day, 06:00 to 18:00)</a:t>
            </a:r>
          </a:p>
          <a:p>
            <a:pPr marL="150000" indent="-150000" algn="l">
              <a:spcBef>
                <a:spcPts val="300"/>
              </a:spcBef>
              <a:buChar char="•"/>
            </a:pPr>
            <a:r>
              <a:rPr sz="850" b="0">
                <a:solidFill>
                  <a:srgbClr val="3B312B"/>
                </a:solidFill>
                <a:latin typeface="Outfit"/>
              </a:rPr>
              <a:t>Without HeatGuard, 5 of 8 workers reach 38.5 °C (highest 39.6 °C). With HeatGuard none do (highest 38.4 °C).</a:t>
            </a:r>
          </a:p>
          <a:p>
            <a:pPr marL="150000" indent="-150000" algn="l">
              <a:spcBef>
                <a:spcPts val="300"/>
              </a:spcBef>
              <a:buChar char="•"/>
            </a:pPr>
            <a:r>
              <a:rPr sz="850" b="0">
                <a:solidFill>
                  <a:srgbClr val="3B312B"/>
                </a:solidFill>
                <a:latin typeface="Outfit"/>
              </a:rPr>
              <a:t>Average productive time per worker on this very hot day: 6.0 h versus 9.2 h unprotected. The trade-off curve on the left shows how the operating point was chosen on a separate tuning set (seed 101) and then frozen.</a:t>
            </a:r>
          </a:p>
          <a:p>
            <a:pPr marL="150000" indent="-150000" algn="l">
              <a:spcBef>
                <a:spcPts val="300"/>
              </a:spcBef>
              <a:buChar char="•"/>
            </a:pPr>
            <a:r>
              <a:rPr sz="850" b="0">
                <a:solidFill>
                  <a:srgbClr val="3B312B"/>
                </a:solidFill>
                <a:latin typeface="Outfit"/>
              </a:rPr>
              <a:t>Alerts reach each worker in Hindi, Urdu, Bengali, Malayalam, Nepali, Tagalog or English. The supervisor view hides all temperatures.</a:t>
            </a:r>
          </a:p>
          <a:p>
            <a:pPr marL="0" indent="0" algn="l">
              <a:spcBef>
                <a:spcPts val="600"/>
              </a:spcBef>
              <a:buNone/>
            </a:pPr>
            <a:r>
              <a:rPr sz="1050" b="1">
                <a:solidFill>
                  <a:srgbClr val="7A6656"/>
                </a:solidFill>
                <a:latin typeface="Outfit"/>
              </a:rPr>
              <a:t>What is still open</a:t>
            </a:r>
          </a:p>
          <a:p>
            <a:pPr marL="150000" indent="-150000" algn="l">
              <a:spcBef>
                <a:spcPts val="300"/>
              </a:spcBef>
              <a:buChar char="•"/>
            </a:pPr>
            <a:r>
              <a:rPr sz="850" b="0">
                <a:solidFill>
                  <a:srgbClr val="3B312B"/>
                </a:solidFill>
                <a:latin typeface="Outfit"/>
              </a:rPr>
              <a:t>No human data yet. The first pilot task is calibration against ingestible-pill readings.</a:t>
            </a:r>
          </a:p>
          <a:p>
            <a:pPr marL="150000" indent="-150000" algn="l">
              <a:spcBef>
                <a:spcPts val="300"/>
              </a:spcBef>
              <a:buChar char="•"/>
            </a:pPr>
            <a:r>
              <a:rPr sz="850" b="0">
                <a:solidFill>
                  <a:srgbClr val="3B312B"/>
                </a:solidFill>
                <a:latin typeface="Outfit"/>
              </a:rPr>
              <a:t>Alert burden is high in simulation (71% of never-above-38 °C workers saw at least an amber tier; red 26%). Amber is a soft prompt; thresholds need pilot tuning.</a:t>
            </a:r>
          </a:p>
          <a:p>
            <a:pPr marL="150000" indent="-150000" algn="l">
              <a:spcBef>
                <a:spcPts val="300"/>
              </a:spcBef>
              <a:buChar char="•"/>
            </a:pPr>
            <a:r>
              <a:rPr sz="850" b="0">
                <a:solidFill>
                  <a:srgbClr val="3B312B"/>
                </a:solidFill>
                <a:latin typeface="Outfit"/>
              </a:rPr>
              <a:t>Lowest warning rate is for acclimatized workers (76% warned 10+ min ahead).</a:t>
            </a:r>
          </a:p>
          <a:p>
            <a:pPr marL="0" indent="0" algn="l">
              <a:spcBef>
                <a:spcPts val="600"/>
              </a:spcBef>
              <a:buNone/>
            </a:pPr>
            <a:r>
              <a:rPr sz="1050" b="1">
                <a:solidFill>
                  <a:srgbClr val="7A6656"/>
                </a:solidFill>
                <a:latin typeface="Outfit"/>
              </a:rPr>
              <a:t>Try it</a:t>
            </a:r>
          </a:p>
          <a:p>
            <a:pPr marL="150000" indent="-150000" algn="l">
              <a:spcBef>
                <a:spcPts val="300"/>
              </a:spcBef>
              <a:buChar char="•"/>
            </a:pPr>
            <a:r>
              <a:rPr sz="850" b="0">
                <a:solidFill>
                  <a:srgbClr val="3B312B"/>
                </a:solidFill>
                <a:latin typeface="Outfit"/>
              </a:rPr>
              <a:t>Live replay console: https://claude.ai/artifact/3zWxYgsZwFMgFTf4xGsLVu (open to reviewers on request).</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7" title="FHDIC S3.png"/>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